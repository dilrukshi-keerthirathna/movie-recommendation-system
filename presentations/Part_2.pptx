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2"/>
  </p:notesMasterIdLst>
  <p:handoutMasterIdLst>
    <p:handoutMasterId r:id="rId13"/>
  </p:handoutMasterIdLst>
  <p:sldIdLst>
    <p:sldId id="410" r:id="rId5"/>
    <p:sldId id="383" r:id="rId6"/>
    <p:sldId id="403" r:id="rId7"/>
    <p:sldId id="414" r:id="rId8"/>
    <p:sldId id="415" r:id="rId9"/>
    <p:sldId id="416" r:id="rId10"/>
    <p:sldId id="39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0" autoAdjust="0"/>
    <p:restoredTop sz="94061" autoAdjust="0"/>
  </p:normalViewPr>
  <p:slideViewPr>
    <p:cSldViewPr snapToGrid="0">
      <p:cViewPr varScale="1">
        <p:scale>
          <a:sx n="77" d="100"/>
          <a:sy n="77" d="100"/>
        </p:scale>
        <p:origin x="773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4881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9C470-F58A-8674-1001-4C1538200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A5DA23-D817-2358-02FE-8AC42608C4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1CE8A0-E6D6-2BF0-E5FE-596EC93906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94570B-A890-8FCE-D9E7-69AF2B9D40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85933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999CA-536C-D236-4B2E-4E96ECB10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D140B9-FB54-AD6B-9472-49E28B0135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3548BD-A06E-7216-02BA-F2FBBCAD1C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51BB1D-F11D-4873-CCBC-52C0460012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80030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44972" y="1470909"/>
            <a:ext cx="7902055" cy="3291840"/>
          </a:xfrm>
        </p:spPr>
        <p:txBody>
          <a:bodyPr/>
          <a:lstStyle/>
          <a:p>
            <a:pPr algn="ctr"/>
            <a:r>
              <a:rPr lang="en-US" sz="5400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Sequential Group Recommendation</a:t>
            </a:r>
            <a:br>
              <a:rPr lang="en-US" sz="7200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7200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			</a:t>
            </a:r>
            <a:r>
              <a:rPr lang="en-US" sz="4400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 2</a:t>
            </a:r>
            <a:endParaRPr lang="en-US" sz="7200" dirty="0"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D6C318-5B81-0E80-197F-31DEB0A52ACC}"/>
              </a:ext>
            </a:extLst>
          </p:cNvPr>
          <p:cNvSpPr txBox="1"/>
          <p:nvPr/>
        </p:nvSpPr>
        <p:spPr>
          <a:xfrm>
            <a:off x="4999587" y="5858306"/>
            <a:ext cx="30434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chemeClr val="bg1"/>
                </a:solidFill>
              </a:rPr>
              <a:t>Dilrukshi Keerthirathna</a:t>
            </a: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Kalpana </a:t>
            </a:r>
            <a:r>
              <a:rPr lang="en-US" sz="2000" b="1" dirty="0" err="1">
                <a:solidFill>
                  <a:schemeClr val="bg1"/>
                </a:solidFill>
              </a:rPr>
              <a:t>Randeniya</a:t>
            </a:r>
            <a:endParaRPr lang="en-U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59" y="575187"/>
            <a:ext cx="8918351" cy="1276130"/>
          </a:xfrm>
        </p:spPr>
        <p:txBody>
          <a:bodyPr anchor="b">
            <a:noAutofit/>
          </a:bodyPr>
          <a:lstStyle/>
          <a:p>
            <a:br>
              <a:rPr lang="en-US" sz="4800" b="0" dirty="0">
                <a:solidFill>
                  <a:srgbClr val="002060"/>
                </a:solidFill>
              </a:rPr>
            </a:br>
            <a:r>
              <a:rPr lang="en-US" sz="4800" dirty="0">
                <a:solidFill>
                  <a:srgbClr val="002060"/>
                </a:solidFill>
              </a:rPr>
              <a:t>Drawbacks of Static Aggregation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FE7B8-A4D5-4F28-55E8-351312966FAE}"/>
              </a:ext>
            </a:extLst>
          </p:cNvPr>
          <p:cNvSpPr>
            <a:spLocks noGrp="1"/>
          </p:cNvSpPr>
          <p:nvPr/>
        </p:nvSpPr>
        <p:spPr>
          <a:xfrm>
            <a:off x="594359" y="2360874"/>
            <a:ext cx="11597641" cy="49543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Average Method</a:t>
            </a:r>
            <a:endParaRPr lang="en-US" sz="28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indent="-342900"/>
            <a:r>
              <a:rPr lang="en-US" sz="2400" dirty="0">
                <a:solidFill>
                  <a:schemeClr val="bg1"/>
                </a:solidFill>
                <a:cs typeface="Calibri" panose="020F0502020204030204" pitchFamily="34" charset="0"/>
              </a:rPr>
              <a:t>Treats all group members equally and easily ignores the minority preference, leading to high disagreement</a:t>
            </a:r>
          </a:p>
          <a:p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Least Misery Method</a:t>
            </a:r>
            <a:endParaRPr lang="en-US" sz="28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indent="-342900"/>
            <a:r>
              <a:rPr lang="en-US" sz="2400" dirty="0">
                <a:solidFill>
                  <a:schemeClr val="bg1"/>
                </a:solidFill>
                <a:cs typeface="Calibri" panose="020F0502020204030204" pitchFamily="34" charset="0"/>
              </a:rPr>
              <a:t>Often recommends bland items with low preference scores for everyone (low utility)</a:t>
            </a:r>
          </a:p>
          <a:p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Motivation for Sequential Methods</a:t>
            </a:r>
            <a:endParaRPr lang="en-US" sz="28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indent="-342900"/>
            <a:r>
              <a:rPr lang="en-US" sz="2400" dirty="0">
                <a:solidFill>
                  <a:schemeClr val="bg1"/>
                </a:solidFill>
                <a:cs typeface="Calibri" panose="020F0502020204030204" pitchFamily="34" charset="0"/>
              </a:rPr>
              <a:t>Static methods only produce a single list and cannot adapt over time</a:t>
            </a:r>
          </a:p>
          <a:p>
            <a:pPr lvl="1" indent="-342900"/>
            <a:r>
              <a:rPr lang="en-US" sz="2400" dirty="0">
                <a:solidFill>
                  <a:schemeClr val="bg1"/>
                </a:solidFill>
                <a:cs typeface="Calibri" panose="020F0502020204030204" pitchFamily="34" charset="0"/>
              </a:rPr>
              <a:t>Need a method that considers sequential group preference</a:t>
            </a:r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AB9C34-2B13-E66F-1053-2BA156F89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178" y="124098"/>
            <a:ext cx="11520009" cy="1264518"/>
          </a:xfr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Proposed Method : </a:t>
            </a:r>
            <a:br>
              <a:rPr lang="en-US" dirty="0">
                <a:solidFill>
                  <a:srgbClr val="002060"/>
                </a:solidFill>
              </a:rPr>
            </a:br>
            <a:r>
              <a:rPr lang="en-US" dirty="0">
                <a:solidFill>
                  <a:srgbClr val="002060"/>
                </a:solidFill>
              </a:rPr>
              <a:t>Markov Decision Process (MDP)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0F947A4-2136-72FF-63AA-73BABD495F3C}"/>
              </a:ext>
            </a:extLst>
          </p:cNvPr>
          <p:cNvSpPr/>
          <p:nvPr/>
        </p:nvSpPr>
        <p:spPr>
          <a:xfrm>
            <a:off x="485178" y="1423749"/>
            <a:ext cx="2244374" cy="9075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71C9321-54BC-8063-1AAF-B7A6D9295DFB}"/>
              </a:ext>
            </a:extLst>
          </p:cNvPr>
          <p:cNvSpPr txBox="1">
            <a:spLocks/>
          </p:cNvSpPr>
          <p:nvPr/>
        </p:nvSpPr>
        <p:spPr>
          <a:xfrm>
            <a:off x="185293" y="1514507"/>
            <a:ext cx="11423611" cy="5343493"/>
          </a:xfrm>
          <a:prstGeom prst="rect">
            <a:avLst/>
          </a:prstGeom>
        </p:spPr>
        <p:txBody>
          <a:bodyPr/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 MDP Components: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C00000"/>
                </a:solidFill>
                <a:cs typeface="Calibri" panose="020F0502020204030204" pitchFamily="34" charset="0"/>
              </a:rPr>
              <a:t>State:</a:t>
            </a:r>
            <a:r>
              <a:rPr lang="en-US" sz="2000" dirty="0">
                <a:cs typeface="Calibri" panose="020F0502020204030204" pitchFamily="34" charset="0"/>
              </a:rPr>
              <a:t> Current movie recommended to the group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C00000"/>
                </a:solidFill>
                <a:cs typeface="Calibri" panose="020F0502020204030204" pitchFamily="34" charset="0"/>
              </a:rPr>
              <a:t>Action:</a:t>
            </a:r>
            <a:r>
              <a:rPr lang="en-US" sz="2000" dirty="0">
                <a:cs typeface="Calibri" panose="020F0502020204030204" pitchFamily="34" charset="0"/>
              </a:rPr>
              <a:t> Next movie to recommend, balancing individual interests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C00000"/>
                </a:solidFill>
                <a:cs typeface="Calibri" panose="020F0502020204030204" pitchFamily="34" charset="0"/>
              </a:rPr>
              <a:t>Transition Probability:</a:t>
            </a:r>
            <a:r>
              <a:rPr lang="en-US" sz="2000" dirty="0">
                <a:solidFill>
                  <a:srgbClr val="C00000"/>
                </a:solidFill>
                <a:cs typeface="Calibri" panose="020F0502020204030204" pitchFamily="34" charset="0"/>
              </a:rPr>
              <a:t> </a:t>
            </a:r>
            <a:r>
              <a:rPr lang="en-US" sz="2000" dirty="0">
                <a:cs typeface="Calibri" panose="020F0502020204030204" pitchFamily="34" charset="0"/>
              </a:rPr>
              <a:t>Likelihood of moving from one movie to another, based on historical group preferences (e.g., highly rated movies are prioritized)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C00000"/>
                </a:solidFill>
                <a:cs typeface="Calibri" panose="020F0502020204030204" pitchFamily="34" charset="0"/>
              </a:rPr>
              <a:t>Reward:</a:t>
            </a:r>
            <a:r>
              <a:rPr lang="en-US" sz="2000" dirty="0">
                <a:solidFill>
                  <a:srgbClr val="C00000"/>
                </a:solidFill>
                <a:cs typeface="Calibri" panose="020F0502020204030204" pitchFamily="34" charset="0"/>
              </a:rPr>
              <a:t> </a:t>
            </a:r>
            <a:r>
              <a:rPr lang="en-US" sz="2000" dirty="0">
                <a:cs typeface="Calibri" panose="020F0502020204030204" pitchFamily="34" charset="0"/>
              </a:rPr>
              <a:t>Aggregated group satisfaction (e.g., average rating), guiding future recommendations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Why MDP Works:</a:t>
            </a:r>
          </a:p>
          <a:p>
            <a:pPr marL="914400" lvl="1" indent="-457200">
              <a:lnSpc>
                <a:spcPct val="150000"/>
              </a:lnSpc>
            </a:pPr>
            <a:r>
              <a:rPr lang="en-US" altLang="en-US" sz="2000" dirty="0">
                <a:cs typeface="Calibri" panose="020F0502020204030204" pitchFamily="34" charset="0"/>
              </a:rPr>
              <a:t>Learns the best sequence instead of a single list</a:t>
            </a:r>
          </a:p>
          <a:p>
            <a:pPr marL="914400" lvl="1" indent="-457200">
              <a:lnSpc>
                <a:spcPct val="150000"/>
              </a:lnSpc>
            </a:pPr>
            <a:r>
              <a:rPr lang="en-US" altLang="en-US" sz="2000" dirty="0">
                <a:cs typeface="Calibri" panose="020F0502020204030204" pitchFamily="34" charset="0"/>
              </a:rPr>
              <a:t>Balances group members’ preferences across multiple rounds</a:t>
            </a:r>
            <a:endParaRPr lang="en-US" sz="2800" dirty="0"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2428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5A5826-8371-AA38-2C3E-D937B152C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D05A7FB-0D65-636E-AAC4-B68A6927F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178" y="353960"/>
            <a:ext cx="11520009" cy="819800"/>
          </a:xfr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Pipeline Overview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B1F423-B2A7-71C5-63D6-075BC85C7705}"/>
              </a:ext>
            </a:extLst>
          </p:cNvPr>
          <p:cNvSpPr/>
          <p:nvPr/>
        </p:nvSpPr>
        <p:spPr>
          <a:xfrm>
            <a:off x="485178" y="1247664"/>
            <a:ext cx="2244374" cy="9075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07AD849-9342-B9F2-9477-94B464CF28C1}"/>
              </a:ext>
            </a:extLst>
          </p:cNvPr>
          <p:cNvSpPr txBox="1">
            <a:spLocks/>
          </p:cNvSpPr>
          <p:nvPr/>
        </p:nvSpPr>
        <p:spPr>
          <a:xfrm>
            <a:off x="485178" y="1412326"/>
            <a:ext cx="10229205" cy="4660483"/>
          </a:xfrm>
          <a:prstGeom prst="rect">
            <a:avLst/>
          </a:prstGeom>
        </p:spPr>
        <p:txBody>
          <a:bodyPr/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sz="2000" dirty="0"/>
              <a:t>Generates a ranked list of new, group-unseen movies that the user is most likely to enjoy, using collaborative-filtering predictions</a:t>
            </a:r>
          </a:p>
          <a:p>
            <a:pPr marL="342900" indent="-342900"/>
            <a:r>
              <a:rPr lang="en-US" sz="2000" dirty="0"/>
              <a:t>Calculate how satisfied a user is with the group’s recommended list by comparing the total predicted ratings of the group’s movies to the total predicted ratings of the user’s own top-k ideal movies</a:t>
            </a:r>
          </a:p>
          <a:p>
            <a:pPr marL="342900" indent="-342900"/>
            <a:endParaRPr lang="en-US" sz="2000" dirty="0"/>
          </a:p>
          <a:p>
            <a:pPr marL="342900" indent="-342900"/>
            <a:endParaRPr lang="en-US" sz="2000" dirty="0"/>
          </a:p>
          <a:p>
            <a:pPr marL="342900" indent="-342900"/>
            <a:endParaRPr lang="en-US" sz="2000" dirty="0"/>
          </a:p>
          <a:p>
            <a:pPr marL="342900" indent="-342900"/>
            <a:endParaRPr lang="en-US" sz="2000" dirty="0"/>
          </a:p>
          <a:p>
            <a:pPr marL="342900" indent="-342900"/>
            <a:r>
              <a:rPr lang="en-US" sz="2000" dirty="0"/>
              <a:t>Disagreement calculation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473319-CB7D-20E0-4FA3-A5418462BB8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300267" y="3230217"/>
            <a:ext cx="3659359" cy="1143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D22AB9-F79D-E437-A252-E4CE4FF7053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300267" y="5128592"/>
            <a:ext cx="5776394" cy="659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580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20EECC-0C9F-FE59-8A2C-0EF39E110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2B61815-199D-E4E7-0B98-B2FCEC58B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178" y="353960"/>
            <a:ext cx="11520009" cy="819800"/>
          </a:xfr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Pipeline Overview </a:t>
            </a:r>
            <a:r>
              <a:rPr lang="en-US" dirty="0" err="1">
                <a:solidFill>
                  <a:srgbClr val="002060"/>
                </a:solidFill>
              </a:rPr>
              <a:t>cont</a:t>
            </a:r>
            <a:r>
              <a:rPr lang="en-US" dirty="0">
                <a:solidFill>
                  <a:srgbClr val="002060"/>
                </a:solidFill>
              </a:rPr>
              <a:t>…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B943CD6-D844-6644-92BC-D85D0A3D3607}"/>
              </a:ext>
            </a:extLst>
          </p:cNvPr>
          <p:cNvSpPr/>
          <p:nvPr/>
        </p:nvSpPr>
        <p:spPr>
          <a:xfrm>
            <a:off x="485178" y="1247664"/>
            <a:ext cx="2244374" cy="9075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0BFD113-E1FB-6D6D-24D9-1937EBEE8182}"/>
              </a:ext>
            </a:extLst>
          </p:cNvPr>
          <p:cNvSpPr txBox="1">
            <a:spLocks/>
          </p:cNvSpPr>
          <p:nvPr/>
        </p:nvSpPr>
        <p:spPr>
          <a:xfrm>
            <a:off x="485178" y="1412326"/>
            <a:ext cx="10767841" cy="5445674"/>
          </a:xfrm>
          <a:prstGeom prst="rect">
            <a:avLst/>
          </a:prstGeom>
        </p:spPr>
        <p:txBody>
          <a:bodyPr/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r>
              <a:rPr lang="en-US" sz="2400" dirty="0"/>
              <a:t>Calculate weighted blend of Average and Least Misery predicted ratings across users, using disagreement</a:t>
            </a:r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Calculate Predicted Average Satisfaction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14F707-4DA5-9270-A278-504ACA19C99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57907" y="2872410"/>
            <a:ext cx="6788235" cy="5856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B1AFD00-A6EE-4A24-FB93-87353417B3C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57907" y="4154557"/>
            <a:ext cx="4104028" cy="84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070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DE23D-676E-1B49-3EBC-25DD4C004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28" y="951971"/>
            <a:ext cx="5711483" cy="915514"/>
          </a:xfrm>
        </p:spPr>
        <p:txBody>
          <a:bodyPr/>
          <a:lstStyle/>
          <a:p>
            <a:r>
              <a:rPr lang="en-US" spc="100" dirty="0">
                <a:solidFill>
                  <a:srgbClr val="002060"/>
                </a:solidFill>
              </a:rPr>
              <a:t>Simulation Findings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D414B9-1012-D4D7-381E-BB6174E571B3}"/>
              </a:ext>
            </a:extLst>
          </p:cNvPr>
          <p:cNvSpPr txBox="1"/>
          <p:nvPr/>
        </p:nvSpPr>
        <p:spPr>
          <a:xfrm>
            <a:off x="6897757" y="2945547"/>
            <a:ext cx="4293705" cy="324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bg1"/>
              </a:solidFill>
            </a:endParaRPr>
          </a:p>
          <a:p>
            <a:pPr marL="228600" lvl="0" indent="-283464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High average satisfaction across most groups (&gt; 0.8)</a:t>
            </a:r>
          </a:p>
          <a:p>
            <a:pPr marL="228600" lvl="0" indent="-283464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Significant disagreement (α) for some groups — split preferences on top picks</a:t>
            </a:r>
          </a:p>
          <a:p>
            <a:pPr marL="228600" lvl="0" indent="-283464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Substantial variation in fairness: some rounds show high satisfaction disparity (std dev up to ~0.6)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9" name="Content Placeholder 4">
            <a:extLst>
              <a:ext uri="{FF2B5EF4-FFF2-40B4-BE49-F238E27FC236}">
                <a16:creationId xmlns:a16="http://schemas.microsoft.com/office/drawing/2014/main" id="{66912739-F858-688C-11CA-D1278ADA0AF8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36461" y="2482075"/>
            <a:ext cx="6183450" cy="3449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4543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2333767"/>
            <a:ext cx="5486400" cy="1369552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{9251C412-963E-49E9-899C-4C6644AFC53F}TFd3b75063-ff25-434d-b12c-efeaf07d16c3292f62b5_win32-75a75c970d8e</Template>
  <TotalTime>1464</TotalTime>
  <Words>310</Words>
  <Application>Microsoft Office PowerPoint</Application>
  <PresentationFormat>Widescreen</PresentationFormat>
  <Paragraphs>46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Franklin Gothic Book</vt:lpstr>
      <vt:lpstr>Franklin Gothic Demi</vt:lpstr>
      <vt:lpstr>Wingdings</vt:lpstr>
      <vt:lpstr>Custom</vt:lpstr>
      <vt:lpstr>Sequential Group Recommendation      Part 2</vt:lpstr>
      <vt:lpstr> Drawbacks of Static Aggregation Methods</vt:lpstr>
      <vt:lpstr>Proposed Method :  Markov Decision Process (MDP)</vt:lpstr>
      <vt:lpstr>Pipeline Overview</vt:lpstr>
      <vt:lpstr>Pipeline Overview cont…</vt:lpstr>
      <vt:lpstr>Simulation Findings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Hasitha Ranathunga</dc:creator>
  <cp:lastModifiedBy>Dilrukshi Kattadiyale Gedara</cp:lastModifiedBy>
  <cp:revision>16</cp:revision>
  <dcterms:created xsi:type="dcterms:W3CDTF">2025-11-06T15:58:54Z</dcterms:created>
  <dcterms:modified xsi:type="dcterms:W3CDTF">2026-06-11T20:11:22Z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