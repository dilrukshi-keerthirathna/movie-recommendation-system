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11"/>
  </p:notesMasterIdLst>
  <p:handoutMasterIdLst>
    <p:handoutMasterId r:id="rId12"/>
  </p:handoutMasterIdLst>
  <p:sldIdLst>
    <p:sldId id="410" r:id="rId5"/>
    <p:sldId id="383" r:id="rId6"/>
    <p:sldId id="403" r:id="rId7"/>
    <p:sldId id="414" r:id="rId8"/>
    <p:sldId id="416" r:id="rId9"/>
    <p:sldId id="39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0" autoAdjust="0"/>
    <p:restoredTop sz="94061" autoAdjust="0"/>
  </p:normalViewPr>
  <p:slideViewPr>
    <p:cSldViewPr snapToGrid="0">
      <p:cViewPr varScale="1">
        <p:scale>
          <a:sx n="77" d="100"/>
          <a:sy n="77" d="100"/>
        </p:scale>
        <p:origin x="773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commentAuthors" Target="commentAuthors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EDD12-BCD5-485B-BCBC-34BB01D7923C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230DF-5933-439D-898F-38E9AC9BA68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44881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9C470-F58A-8674-1001-4C1538200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A5DA23-D817-2358-02FE-8AC42608C4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1CE8A0-E6D6-2BF0-E5FE-596EC93906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94570B-A890-8FCE-D9E7-69AF2B9D40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85933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923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9436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Shap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sz="2000"/>
            </a:lvl3pPr>
            <a:lvl4pPr marL="1371600" indent="0">
              <a:spcBef>
                <a:spcPts val="1800"/>
              </a:spcBef>
              <a:buFont typeface="+mj-lt"/>
              <a:buNone/>
              <a:defRPr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457200" indent="0">
              <a:spcBef>
                <a:spcPts val="1800"/>
              </a:spcBef>
              <a:buNone/>
              <a:defRPr sz="2000"/>
            </a:lvl2pPr>
            <a:lvl3pPr marL="914400" indent="0">
              <a:spcBef>
                <a:spcPts val="1800"/>
              </a:spcBef>
              <a:buNone/>
              <a:defRPr sz="2000"/>
            </a:lvl3pPr>
            <a:lvl4pPr marL="1371600" indent="0">
              <a:spcBef>
                <a:spcPts val="1800"/>
              </a:spcBef>
              <a:buNone/>
              <a:defRPr sz="2000"/>
            </a:lvl4pPr>
            <a:lvl5pPr marL="1828800" indent="0">
              <a:spcBef>
                <a:spcPts val="1800"/>
              </a:spcBef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1833" y="1007058"/>
            <a:ext cx="10648334" cy="3696055"/>
          </a:xfrm>
        </p:spPr>
        <p:txBody>
          <a:bodyPr/>
          <a:lstStyle/>
          <a:p>
            <a:pPr algn="ctr"/>
            <a:r>
              <a:rPr lang="en-US" sz="5400" dirty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Diversifying Sequential Group Recommendations</a:t>
            </a:r>
            <a:br>
              <a:rPr lang="en-US" sz="7200" dirty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7200" dirty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			</a:t>
            </a:r>
            <a:r>
              <a:rPr lang="en-US" sz="4400" dirty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Part 3</a:t>
            </a:r>
            <a:endParaRPr lang="en-US" sz="7200" dirty="0">
              <a:solidFill>
                <a:schemeClr val="accent3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62F0A2-1201-B4E2-FC32-5FA85FBF477E}"/>
              </a:ext>
            </a:extLst>
          </p:cNvPr>
          <p:cNvSpPr txBox="1"/>
          <p:nvPr/>
        </p:nvSpPr>
        <p:spPr>
          <a:xfrm>
            <a:off x="4999587" y="5858306"/>
            <a:ext cx="30434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solidFill>
                  <a:schemeClr val="bg1"/>
                </a:solidFill>
              </a:rPr>
              <a:t>Dilrukshi Keerthirathna</a:t>
            </a:r>
          </a:p>
          <a:p>
            <a:pPr algn="just"/>
            <a:r>
              <a:rPr lang="en-US" sz="2000" b="1" dirty="0">
                <a:solidFill>
                  <a:schemeClr val="bg1"/>
                </a:solidFill>
              </a:rPr>
              <a:t>Kalpana </a:t>
            </a:r>
            <a:r>
              <a:rPr lang="en-US" sz="2000" b="1" dirty="0" err="1">
                <a:solidFill>
                  <a:schemeClr val="bg1"/>
                </a:solidFill>
              </a:rPr>
              <a:t>Randeniya</a:t>
            </a:r>
            <a:endParaRPr lang="en-US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58" y="473946"/>
            <a:ext cx="12346389" cy="1603086"/>
          </a:xfrm>
        </p:spPr>
        <p:txBody>
          <a:bodyPr anchor="b">
            <a:noAutofit/>
          </a:bodyPr>
          <a:lstStyle/>
          <a:p>
            <a:br>
              <a:rPr lang="en-US" sz="4800" b="0" dirty="0">
                <a:solidFill>
                  <a:srgbClr val="002060"/>
                </a:solidFill>
              </a:rPr>
            </a:br>
            <a:r>
              <a:rPr lang="en-US" dirty="0">
                <a:solidFill>
                  <a:srgbClr val="002060"/>
                </a:solidFill>
              </a:rPr>
              <a:t>Why Diversity Matters: </a:t>
            </a:r>
            <a:br>
              <a:rPr lang="en-US" dirty="0">
                <a:solidFill>
                  <a:srgbClr val="002060"/>
                </a:solidFill>
              </a:rPr>
            </a:br>
            <a:r>
              <a:rPr lang="en-US" dirty="0">
                <a:solidFill>
                  <a:srgbClr val="002060"/>
                </a:solidFill>
              </a:rPr>
              <a:t>Mitigating Bias in Sequential Group Recommendations</a:t>
            </a:r>
            <a:endParaRPr lang="en-US" sz="4100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AFE7B8-A4D5-4F28-55E8-351312966FAE}"/>
              </a:ext>
            </a:extLst>
          </p:cNvPr>
          <p:cNvSpPr>
            <a:spLocks noGrp="1"/>
          </p:cNvSpPr>
          <p:nvPr/>
        </p:nvSpPr>
        <p:spPr>
          <a:xfrm>
            <a:off x="594359" y="2256183"/>
            <a:ext cx="11084119" cy="40881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solidFill>
                  <a:schemeClr val="bg1"/>
                </a:solidFill>
                <a:cs typeface="Calibri" panose="020F0502020204030204" pitchFamily="34" charset="0"/>
              </a:rPr>
              <a:t> </a:t>
            </a:r>
            <a:r>
              <a:rPr lang="en-US" altLang="en-US" sz="2000" dirty="0">
                <a:solidFill>
                  <a:schemeClr val="bg1"/>
                </a:solidFill>
                <a:cs typeface="Calibri" panose="020F0502020204030204" pitchFamily="34" charset="0"/>
              </a:rPr>
              <a:t>Diversity ensures users are exposed to a wide range of content, moving beyond their established preferences.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>
              <a:solidFill>
                <a:schemeClr val="bg1"/>
              </a:solidFill>
              <a:cs typeface="Calibri" panose="020F050202020403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solidFill>
                  <a:schemeClr val="bg1"/>
                </a:solidFill>
                <a:cs typeface="Calibri" panose="020F0502020204030204" pitchFamily="34" charset="0"/>
              </a:rPr>
              <a:t> Diversity actively helps to prevent the reinforcement of biases that arise from repeated exposure to similar types of content over time.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>
              <a:solidFill>
                <a:schemeClr val="bg1"/>
              </a:solidFill>
              <a:cs typeface="Calibri" panose="020F050202020403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solidFill>
                  <a:schemeClr val="bg1"/>
                </a:solidFill>
                <a:cs typeface="Calibri" panose="020F0502020204030204" pitchFamily="34" charset="0"/>
              </a:rPr>
              <a:t>Risk of Past Behavior.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>
              <a:solidFill>
                <a:schemeClr val="bg1"/>
              </a:solidFill>
              <a:cs typeface="Calibri" panose="020F050202020403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solidFill>
                  <a:schemeClr val="bg1"/>
                </a:solidFill>
                <a:cs typeface="Calibri" panose="020F0502020204030204" pitchFamily="34" charset="0"/>
              </a:rPr>
              <a:t> </a:t>
            </a:r>
            <a:r>
              <a:rPr lang="en-US" sz="2000" dirty="0">
                <a:solidFill>
                  <a:schemeClr val="bg1"/>
                </a:solidFill>
                <a:cs typeface="Calibri" panose="020F0502020204030204" pitchFamily="34" charset="0"/>
              </a:rPr>
              <a:t>To make the recommendations more effective, our solution leverages Greedy Randomized with Neighborhood Expansion (GNE) with Greedy Marginal Contribution (GMC).</a:t>
            </a:r>
            <a:endParaRPr lang="en-US" altLang="en-US" sz="2000" dirty="0">
              <a:solidFill>
                <a:schemeClr val="bg1"/>
              </a:solidFill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6685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7AB9C34-2B13-E66F-1053-2BA156F89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178" y="815009"/>
            <a:ext cx="11706822" cy="1743803"/>
          </a:xfr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US" dirty="0">
                <a:solidFill>
                  <a:srgbClr val="002060"/>
                </a:solidFill>
              </a:rPr>
              <a:t>Proposed Method : </a:t>
            </a:r>
            <a:br>
              <a:rPr lang="en-US" dirty="0">
                <a:solidFill>
                  <a:srgbClr val="002060"/>
                </a:solidFill>
              </a:rPr>
            </a:br>
            <a:r>
              <a:rPr lang="en-US" dirty="0">
                <a:solidFill>
                  <a:srgbClr val="002060"/>
                </a:solidFill>
              </a:rPr>
              <a:t>Greedy Randomized with Neighborhood Expansion (GRNE)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0F947A4-2136-72FF-63AA-73BABD495F3C}"/>
              </a:ext>
            </a:extLst>
          </p:cNvPr>
          <p:cNvSpPr/>
          <p:nvPr/>
        </p:nvSpPr>
        <p:spPr>
          <a:xfrm>
            <a:off x="485178" y="2718711"/>
            <a:ext cx="2244374" cy="9075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71C9321-54BC-8063-1AAF-B7A6D9295DFB}"/>
              </a:ext>
            </a:extLst>
          </p:cNvPr>
          <p:cNvSpPr txBox="1">
            <a:spLocks/>
          </p:cNvSpPr>
          <p:nvPr/>
        </p:nvSpPr>
        <p:spPr>
          <a:xfrm>
            <a:off x="485178" y="3129268"/>
            <a:ext cx="10905494" cy="2621907"/>
          </a:xfrm>
          <a:prstGeom prst="rect">
            <a:avLst/>
          </a:prstGeom>
        </p:spPr>
        <p:txBody>
          <a:bodyPr/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Use a </a:t>
            </a:r>
            <a:r>
              <a:rPr lang="en-US" sz="2000" b="1" dirty="0"/>
              <a:t>Greedy Selection</a:t>
            </a:r>
            <a:r>
              <a:rPr lang="en-US" sz="2000" dirty="0"/>
              <a:t> process to ensure high relevance to the group profile.</a:t>
            </a:r>
          </a:p>
          <a:p>
            <a:r>
              <a:rPr lang="en-US" sz="2000" dirty="0"/>
              <a:t>Introduce a </a:t>
            </a:r>
            <a:r>
              <a:rPr lang="en-US" sz="2000" b="1" dirty="0"/>
              <a:t>Diversity Penalty</a:t>
            </a:r>
            <a:r>
              <a:rPr lang="en-US" sz="2000" dirty="0"/>
              <a:t> (cost function) to discourage selecting items very similar to those already chosen.</a:t>
            </a:r>
          </a:p>
          <a:p>
            <a:r>
              <a:rPr lang="en-US" sz="2000" dirty="0"/>
              <a:t>Add a </a:t>
            </a:r>
            <a:r>
              <a:rPr lang="en-US" sz="2000" b="1" dirty="0"/>
              <a:t>Randomized Component</a:t>
            </a:r>
            <a:r>
              <a:rPr lang="en-US" sz="2000" dirty="0"/>
              <a:t> to break local optima and explore a broader "neighborhood" of good, diverse items.</a:t>
            </a:r>
          </a:p>
        </p:txBody>
      </p:sp>
    </p:spTree>
    <p:extLst>
      <p:ext uri="{BB962C8B-B14F-4D97-AF65-F5344CB8AC3E}">
        <p14:creationId xmlns:p14="http://schemas.microsoft.com/office/powerpoint/2010/main" val="752428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5A5826-8371-AA38-2C3E-D937B152C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D05A7FB-0D65-636E-AAC4-B68A6927F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178" y="470349"/>
            <a:ext cx="11520009" cy="819800"/>
          </a:xfr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GB" dirty="0">
                <a:solidFill>
                  <a:srgbClr val="002060"/>
                </a:solidFill>
              </a:rPr>
              <a:t>Core Logic behind GRNE Algorithm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7B1F423-B2A7-71C5-63D6-075BC85C7705}"/>
              </a:ext>
            </a:extLst>
          </p:cNvPr>
          <p:cNvSpPr/>
          <p:nvPr/>
        </p:nvSpPr>
        <p:spPr>
          <a:xfrm>
            <a:off x="485178" y="1366947"/>
            <a:ext cx="2244374" cy="9075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07AD849-9342-B9F2-9477-94B464CF28C1}"/>
              </a:ext>
            </a:extLst>
          </p:cNvPr>
          <p:cNvSpPr txBox="1">
            <a:spLocks/>
          </p:cNvSpPr>
          <p:nvPr/>
        </p:nvSpPr>
        <p:spPr>
          <a:xfrm>
            <a:off x="485178" y="1412326"/>
            <a:ext cx="10873739" cy="5445674"/>
          </a:xfrm>
          <a:prstGeom prst="rect">
            <a:avLst/>
          </a:prstGeom>
        </p:spPr>
        <p:txBody>
          <a:bodyPr/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96DCA1B-1141-1EC5-B258-21CCF2693402}"/>
              </a:ext>
            </a:extLst>
          </p:cNvPr>
          <p:cNvSpPr txBox="1"/>
          <p:nvPr/>
        </p:nvSpPr>
        <p:spPr>
          <a:xfrm>
            <a:off x="485178" y="1511434"/>
            <a:ext cx="10646648" cy="334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GB" sz="2000" b="1" dirty="0">
                <a:solidFill>
                  <a:schemeClr val="bg1"/>
                </a:solidFill>
                <a:cs typeface="Calibri" panose="020F0502020204030204" pitchFamily="34" charset="0"/>
              </a:rPr>
              <a:t>Step 1</a:t>
            </a:r>
            <a:r>
              <a:rPr lang="en-GB" sz="2000" dirty="0">
                <a:solidFill>
                  <a:schemeClr val="bg1"/>
                </a:solidFill>
                <a:cs typeface="Calibri" panose="020F0502020204030204" pitchFamily="34" charset="0"/>
              </a:rPr>
              <a:t>: Aggregate group preferences into a group profile using weighted relevance scores based on individual user-item ratings.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GB" sz="2000" b="1" dirty="0">
                <a:solidFill>
                  <a:schemeClr val="bg1"/>
                </a:solidFill>
                <a:cs typeface="Calibri" panose="020F0502020204030204" pitchFamily="34" charset="0"/>
              </a:rPr>
              <a:t>Step 2</a:t>
            </a:r>
            <a:r>
              <a:rPr lang="en-GB" sz="2000" dirty="0">
                <a:solidFill>
                  <a:schemeClr val="bg1"/>
                </a:solidFill>
                <a:cs typeface="Calibri" panose="020F0502020204030204" pitchFamily="34" charset="0"/>
              </a:rPr>
              <a:t>: Identify candidate items based on their relevance to the group’s preferences.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GB" sz="2000" b="1" dirty="0">
                <a:solidFill>
                  <a:schemeClr val="bg1"/>
                </a:solidFill>
                <a:cs typeface="Calibri" panose="020F0502020204030204" pitchFamily="34" charset="0"/>
              </a:rPr>
              <a:t>Step 3</a:t>
            </a:r>
            <a:r>
              <a:rPr lang="en-GB" sz="2000" dirty="0">
                <a:solidFill>
                  <a:schemeClr val="bg1"/>
                </a:solidFill>
                <a:cs typeface="Calibri" panose="020F0502020204030204" pitchFamily="34" charset="0"/>
              </a:rPr>
              <a:t>: Introduce diversity by reducing the score of items similar to those already recommended, using </a:t>
            </a:r>
            <a:r>
              <a:rPr lang="en-GB" sz="2000" b="1" dirty="0">
                <a:solidFill>
                  <a:schemeClr val="bg1"/>
                </a:solidFill>
                <a:cs typeface="Calibri" panose="020F0502020204030204" pitchFamily="34" charset="0"/>
              </a:rPr>
              <a:t>cosine similarity</a:t>
            </a:r>
            <a:r>
              <a:rPr lang="en-GB" sz="2000" dirty="0">
                <a:solidFill>
                  <a:schemeClr val="bg1"/>
                </a:solidFill>
                <a:cs typeface="Calibri" panose="020F0502020204030204" pitchFamily="34" charset="0"/>
              </a:rPr>
              <a:t>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GB" sz="2000" b="1" dirty="0">
                <a:solidFill>
                  <a:schemeClr val="bg1"/>
                </a:solidFill>
                <a:cs typeface="Calibri" panose="020F0502020204030204" pitchFamily="34" charset="0"/>
              </a:rPr>
              <a:t>Step 4</a:t>
            </a:r>
            <a:r>
              <a:rPr lang="en-GB" sz="2000" dirty="0">
                <a:solidFill>
                  <a:schemeClr val="bg1"/>
                </a:solidFill>
                <a:cs typeface="Calibri" panose="020F0502020204030204" pitchFamily="34" charset="0"/>
              </a:rPr>
              <a:t>: Include randomization to explore items beyond the highest-ranked ones.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GB" sz="2000" b="1" dirty="0">
                <a:solidFill>
                  <a:schemeClr val="bg1"/>
                </a:solidFill>
                <a:cs typeface="Calibri" panose="020F0502020204030204" pitchFamily="34" charset="0"/>
              </a:rPr>
              <a:t>Step 5</a:t>
            </a:r>
            <a:r>
              <a:rPr lang="en-GB" sz="2000" dirty="0">
                <a:solidFill>
                  <a:schemeClr val="bg1"/>
                </a:solidFill>
                <a:cs typeface="Calibri" panose="020F0502020204030204" pitchFamily="34" charset="0"/>
              </a:rPr>
              <a:t>: Iteratively recommend items while ensuring both relevance and diversity in the final set</a:t>
            </a:r>
            <a:r>
              <a:rPr lang="en-GB" sz="2400" dirty="0">
                <a:solidFill>
                  <a:schemeClr val="bg1"/>
                </a:solidFill>
                <a:cs typeface="Calibri" panose="020F0502020204030204" pitchFamily="34" charset="0"/>
              </a:rPr>
              <a:t>.</a:t>
            </a:r>
            <a:endParaRPr lang="en-US" sz="2400" dirty="0">
              <a:solidFill>
                <a:schemeClr val="bg1"/>
              </a:solidFill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A8921-ACDC-2FC6-497A-45BAC255289A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33083" y="5237922"/>
            <a:ext cx="3318596" cy="85508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C00C765-1D43-74DD-667E-A8AEC5A2AD29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635952" y="5237922"/>
            <a:ext cx="5305263" cy="855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5809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DE23D-676E-1B49-3EBC-25DD4C004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34" y="117820"/>
            <a:ext cx="6787747" cy="699867"/>
          </a:xfrm>
        </p:spPr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Implementation</a:t>
            </a:r>
            <a:r>
              <a:rPr lang="en-US" dirty="0"/>
              <a:t> </a:t>
            </a:r>
            <a:r>
              <a:rPr lang="en-US" dirty="0">
                <a:solidFill>
                  <a:srgbClr val="002060"/>
                </a:solidFill>
              </a:rPr>
              <a:t>output</a:t>
            </a:r>
            <a:endParaRPr lang="en-US" spc="100" dirty="0">
              <a:solidFill>
                <a:srgbClr val="00206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8835BF8-1083-BC65-D19F-D582BB0FCB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453" y="1425810"/>
            <a:ext cx="11705210" cy="2441903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90FB8F4-F3F3-F9F5-A688-B531A08D99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453" y="4196284"/>
            <a:ext cx="11705210" cy="2383414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7C12B82-0E0C-B8C0-6C70-B32FD8719F13}"/>
              </a:ext>
            </a:extLst>
          </p:cNvPr>
          <p:cNvSpPr/>
          <p:nvPr/>
        </p:nvSpPr>
        <p:spPr>
          <a:xfrm>
            <a:off x="272134" y="1006481"/>
            <a:ext cx="2244374" cy="9075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4543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0C1B7-6E4E-3DEE-50C0-1CA3B1430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360" y="2333767"/>
            <a:ext cx="5486400" cy="1369552"/>
          </a:xfrm>
        </p:spPr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26113241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53419_Win32_SL_V5" id="{958D2C9E-948D-4354-BF9D-DF8AE3C2B240}" vid="{22D4A967-05D2-4D72-8594-54CFF34148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2DB9E12-8AC3-4138-BF4D-720A5525AB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F4B194E-8B30-4377-8C59-ECFB902D2A2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{9251C412-963E-49E9-899C-4C6644AFC53F}TFd3b75063-ff25-434d-b12c-efeaf07d16c3292f62b5_win32-75a75c970d8e</Template>
  <TotalTime>2521</TotalTime>
  <Words>267</Words>
  <Application>Microsoft Office PowerPoint</Application>
  <PresentationFormat>Widescreen</PresentationFormat>
  <Paragraphs>28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Franklin Gothic Book</vt:lpstr>
      <vt:lpstr>Franklin Gothic Demi</vt:lpstr>
      <vt:lpstr>Custom</vt:lpstr>
      <vt:lpstr>Diversifying Sequential Group Recommendations      Part 3</vt:lpstr>
      <vt:lpstr> Why Diversity Matters:  Mitigating Bias in Sequential Group Recommendations</vt:lpstr>
      <vt:lpstr>Proposed Method :  Greedy Randomized with Neighborhood Expansion (GRNE)</vt:lpstr>
      <vt:lpstr>Core Logic behind GRNE Algorithm</vt:lpstr>
      <vt:lpstr>Implementation output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Hasitha Ranathunga</dc:creator>
  <cp:lastModifiedBy>Dilrukshi Kattadiyale Gedara</cp:lastModifiedBy>
  <cp:revision>15</cp:revision>
  <dcterms:created xsi:type="dcterms:W3CDTF">2025-11-06T15:58:54Z</dcterms:created>
  <dcterms:modified xsi:type="dcterms:W3CDTF">2026-06-11T20:15:43Z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