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417" r:id="rId6"/>
    <p:sldId id="414" r:id="rId7"/>
    <p:sldId id="418" r:id="rId8"/>
    <p:sldId id="416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BE42-ED5D-D959-9667-34E07A2A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4468A-3817-D825-35B4-ED11CE46F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1C8C2-8584-EB50-BFE5-1DE9FE5D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8B7A9-97DD-33EA-41E0-9F4654B8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848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403C-D6B6-F4E0-0EB8-23AAD3E2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59B04-69FE-F4F1-A8F6-9D7F5E95B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A9793-D969-D13B-9B82-DFB80A050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E50A2-35CE-05CF-2D8A-D93046596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78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309807-DE36-B579-CE19-8EB401F9AEED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BFD21B-F048-B6BE-AE11-8735FB8E14C8}"/>
              </a:ext>
            </a:extLst>
          </p:cNvPr>
          <p:cNvSpPr txBox="1">
            <a:spLocks/>
          </p:cNvSpPr>
          <p:nvPr/>
        </p:nvSpPr>
        <p:spPr>
          <a:xfrm>
            <a:off x="771833" y="1013790"/>
            <a:ext cx="10648334" cy="369605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Counterfactual Explanations for Group Recommendations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4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63B99-69B0-EC03-CF60-49795DFE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6F1E67A-0A1B-38D0-40CB-47BB27670B21}"/>
              </a:ext>
            </a:extLst>
          </p:cNvPr>
          <p:cNvSpPr/>
          <p:nvPr/>
        </p:nvSpPr>
        <p:spPr>
          <a:xfrm>
            <a:off x="609108" y="1568425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C1441D-F59D-BF24-DE99-9E5ACAAF9669}"/>
              </a:ext>
            </a:extLst>
          </p:cNvPr>
          <p:cNvSpPr txBox="1">
            <a:spLocks/>
          </p:cNvSpPr>
          <p:nvPr/>
        </p:nvSpPr>
        <p:spPr>
          <a:xfrm>
            <a:off x="457200" y="246916"/>
            <a:ext cx="10397613" cy="12761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solidFill>
                  <a:srgbClr val="002060"/>
                </a:solidFill>
              </a:rPr>
              <a:t>Why do groups need counterfactual explanations?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862FDA0-7107-E79D-9BA0-D227BB257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08" y="1756617"/>
            <a:ext cx="10761257" cy="4037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Counterfactual explanations show </a:t>
            </a: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0"/>
              </a:rPr>
              <a:t>how specific movie ratings by users affect the group recommendations.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Importance for group recommendations: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0"/>
              </a:rPr>
              <a:t>Ensures fairness :</a:t>
            </a: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avoids giving one user’s ratings too much influence over group suggestions.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0"/>
              </a:rPr>
              <a:t>Highlights influential movies :</a:t>
            </a: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identifies which movies in the dataset caused specific recommendations for the whole group.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0"/>
              </a:rPr>
              <a:t>Supports transparency:</a:t>
            </a: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group members understand why certain movies appear in their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681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297140"/>
            <a:ext cx="7728608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>
                <a:solidFill>
                  <a:srgbClr val="002060"/>
                </a:solidFill>
                <a:sym typeface="Bara TH"/>
              </a:rPr>
              <a:t>Example Explanation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873739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A0903FD-A76F-C44F-BAAE-C3477BB677C9}"/>
              </a:ext>
            </a:extLst>
          </p:cNvPr>
          <p:cNvSpPr txBox="1"/>
          <p:nvPr/>
        </p:nvSpPr>
        <p:spPr>
          <a:xfrm>
            <a:off x="387125" y="1599870"/>
            <a:ext cx="10337198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C00000"/>
                </a:solidFill>
                <a:sym typeface="Bara TH"/>
              </a:rPr>
              <a:t>Scenario</a:t>
            </a:r>
            <a:r>
              <a:rPr lang="en-GB" sz="2000" b="1" dirty="0">
                <a:solidFill>
                  <a:schemeClr val="bg1"/>
                </a:solidFill>
                <a:sym typeface="Bara TH"/>
              </a:rPr>
              <a:t> </a:t>
            </a:r>
            <a:endParaRPr lang="en-AS" sz="2000" b="1" dirty="0">
              <a:solidFill>
                <a:schemeClr val="bg1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sym typeface="Bara TH"/>
              </a:rPr>
              <a:t>Group of users: [User 1, User 2, User 3, User 4, User 5].</a:t>
            </a:r>
            <a:endParaRPr lang="en-AS" sz="2000" dirty="0">
              <a:solidFill>
                <a:schemeClr val="bg1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sym typeface="Bara TH"/>
              </a:rPr>
              <a:t>Top recommended item: Movie A.</a:t>
            </a:r>
          </a:p>
          <a:p>
            <a:pPr marL="1259838" lvl="3" algn="just"/>
            <a:endParaRPr lang="en-AS" sz="2000" dirty="0">
              <a:solidFill>
                <a:schemeClr val="bg1"/>
              </a:solidFill>
              <a:sym typeface="Bara TH"/>
            </a:endParaRPr>
          </a:p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C00000"/>
                </a:solidFill>
                <a:sym typeface="Bara TH"/>
              </a:rPr>
              <a:t>Explanation</a:t>
            </a:r>
            <a:endParaRPr lang="en-AS" sz="2000" b="1" dirty="0">
              <a:solidFill>
                <a:srgbClr val="C00000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sym typeface="Bara TH"/>
              </a:rPr>
              <a:t>If the group had not interacted with {Movie B, Movie C}, then Movie A would not have been suggested.</a:t>
            </a:r>
            <a:endParaRPr lang="en-AS" sz="2000" dirty="0">
              <a:solidFill>
                <a:schemeClr val="bg1"/>
              </a:solidFill>
              <a:sym typeface="Bara TH"/>
            </a:endParaRPr>
          </a:p>
          <a:p>
            <a:pPr marL="345438" lvl="1" algn="just"/>
            <a:endParaRPr lang="en-AS" sz="2000" dirty="0">
              <a:solidFill>
                <a:schemeClr val="bg1"/>
              </a:solidFill>
              <a:sym typeface="Bara TH"/>
            </a:endParaRPr>
          </a:p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C00000"/>
                </a:solidFill>
                <a:sym typeface="Bara TH"/>
              </a:rPr>
              <a:t>Fairness Highlight</a:t>
            </a:r>
            <a:endParaRPr lang="en-AS" sz="2000" b="1" dirty="0">
              <a:solidFill>
                <a:srgbClr val="C00000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sym typeface="Bara TH"/>
              </a:rPr>
              <a:t>Items {Movie B, Movie C} are selected because they were interacted with by multiple users.</a:t>
            </a:r>
            <a:endParaRPr lang="en-US" sz="2000" dirty="0">
              <a:solidFill>
                <a:schemeClr val="bg1"/>
              </a:solidFill>
              <a:sym typeface="Bara TH"/>
            </a:endParaRPr>
          </a:p>
        </p:txBody>
      </p:sp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496E9-AF44-388D-78B5-A6D1D1D4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5DC86D-5DB9-31B3-28CD-191E58BB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82851"/>
            <a:ext cx="10905494" cy="126451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Methodology for Generating Group-Based Counterfactuals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F25871-815E-1A5E-0688-F1D3C0172C14}"/>
              </a:ext>
            </a:extLst>
          </p:cNvPr>
          <p:cNvSpPr/>
          <p:nvPr/>
        </p:nvSpPr>
        <p:spPr>
          <a:xfrm>
            <a:off x="485178" y="1757480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DAF5AD-C80E-AA6D-CBFE-31AD99D5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78" y="2054686"/>
            <a:ext cx="1044786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Identify Group Preferences</a:t>
            </a: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Compute the average rating of each item across all group members.</a:t>
            </a:r>
          </a:p>
          <a:p>
            <a:pPr marL="365760"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Calibri" panose="020F0502020204030204" pitchFamily="34" charset="0"/>
            </a:endParaRP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Determine Top Recommendations</a:t>
            </a: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Select the top-10 items for the group based on average scores.</a:t>
            </a: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Calibri" panose="020F0502020204030204" pitchFamily="34" charset="0"/>
            </a:endParaRP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Simulate Alternative Scenarios</a:t>
            </a: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Systematically remove combinations of</a:t>
            </a: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previously interacted items from the user-item matrix.</a:t>
            </a: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Calibri" panose="020F0502020204030204" pitchFamily="34" charset="0"/>
            </a:endParaRPr>
          </a:p>
          <a:p>
            <a:pPr marL="36576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  <a:sym typeface="Bara TH"/>
              </a:rPr>
              <a:t>Counterfactual Explanations</a:t>
            </a:r>
            <a:r>
              <a:rPr lang="en-AS" sz="2000" b="1" dirty="0">
                <a:solidFill>
                  <a:schemeClr val="bg1"/>
                </a:solidFill>
                <a:cs typeface="Calibri" panose="020F0502020204030204" pitchFamily="34" charset="0"/>
                <a:sym typeface="Bara TH"/>
              </a:rPr>
              <a:t>: </a:t>
            </a: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Observe how recommendations change when specific subsets of interacted items are removed.</a:t>
            </a:r>
            <a:endParaRPr lang="en-AS" sz="2000" dirty="0">
              <a:solidFill>
                <a:schemeClr val="bg1"/>
              </a:solidFill>
              <a:cs typeface="Calibri" panose="020F0502020204030204" pitchFamily="34" charset="0"/>
              <a:sym typeface="Bara TH"/>
            </a:endParaRPr>
          </a:p>
        </p:txBody>
      </p:sp>
    </p:spTree>
    <p:extLst>
      <p:ext uri="{BB962C8B-B14F-4D97-AF65-F5344CB8AC3E}">
        <p14:creationId xmlns:p14="http://schemas.microsoft.com/office/powerpoint/2010/main" val="396089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17820"/>
            <a:ext cx="6787747" cy="69986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output</a:t>
            </a:r>
            <a:endParaRPr lang="en-US" spc="1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12B82-0E0C-B8C0-6C70-B32FD8719F13}"/>
              </a:ext>
            </a:extLst>
          </p:cNvPr>
          <p:cNvSpPr/>
          <p:nvPr/>
        </p:nvSpPr>
        <p:spPr>
          <a:xfrm>
            <a:off x="272134" y="1006481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E2B21C-9834-99BE-4349-EFF9DE13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84" y="1286033"/>
            <a:ext cx="11292455" cy="545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2686</TotalTime>
  <Words>243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Bara TH</vt:lpstr>
      <vt:lpstr>Calibri</vt:lpstr>
      <vt:lpstr>Franklin Gothic Book</vt:lpstr>
      <vt:lpstr>Franklin Gothic Demi</vt:lpstr>
      <vt:lpstr>Wingdings</vt:lpstr>
      <vt:lpstr>Custom</vt:lpstr>
      <vt:lpstr>PowerPoint Presentation</vt:lpstr>
      <vt:lpstr>PowerPoint Presentation</vt:lpstr>
      <vt:lpstr>Example Explanation</vt:lpstr>
      <vt:lpstr>Methodology for Generating Group-Based Counterfactuals</vt:lpstr>
      <vt:lpstr>Implementation 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17</cp:revision>
  <dcterms:created xsi:type="dcterms:W3CDTF">2025-11-06T15:58:54Z</dcterms:created>
  <dcterms:modified xsi:type="dcterms:W3CDTF">2026-06-11T20:17:07Z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