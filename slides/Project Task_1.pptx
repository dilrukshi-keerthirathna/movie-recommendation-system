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403" r:id="rId7"/>
    <p:sldId id="391" r:id="rId8"/>
    <p:sldId id="411" r:id="rId9"/>
    <p:sldId id="412" r:id="rId10"/>
    <p:sldId id="413" r:id="rId11"/>
    <p:sldId id="3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0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5D1F-6984-6925-0004-936B3825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6F308-838B-3D71-BDFE-5BABB0089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7AACE-CC15-B48D-C883-D3A5250A9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D2587-1868-D59A-81C4-82D839180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77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6F2F1-73FA-EA62-69A2-E3851D4C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6329F-DBAF-126F-E056-EB09BB051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29CB5-62F0-11F2-A040-B16A034B6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B2AD2-91C6-936B-282C-ACC71B3FB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76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4960" y="1435060"/>
            <a:ext cx="6842079" cy="3291840"/>
          </a:xfrm>
        </p:spPr>
        <p:txBody>
          <a:bodyPr/>
          <a:lstStyle/>
          <a:p>
            <a:pPr algn="ctr"/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Recommender Systems</a:t>
            </a:r>
            <a:b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7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		</a:t>
            </a:r>
            <a:r>
              <a:rPr lang="en-US" sz="44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1</a:t>
            </a:r>
            <a:endParaRPr lang="en-US" sz="72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D2AF9-CAEB-77C5-5AD6-9CFEE2314081}"/>
              </a:ext>
            </a:extLst>
          </p:cNvPr>
          <p:cNvSpPr txBox="1"/>
          <p:nvPr/>
        </p:nvSpPr>
        <p:spPr>
          <a:xfrm>
            <a:off x="4999587" y="5858306"/>
            <a:ext cx="3043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bg1"/>
                </a:solidFill>
              </a:rPr>
              <a:t>Dilrukshi Keerthirathna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Kalpana </a:t>
            </a:r>
            <a:r>
              <a:rPr lang="en-US" sz="2000" b="1" dirty="0" err="1">
                <a:solidFill>
                  <a:schemeClr val="bg1"/>
                </a:solidFill>
              </a:rPr>
              <a:t>Randeniya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257810"/>
            <a:ext cx="6787747" cy="1593507"/>
          </a:xfrm>
        </p:spPr>
        <p:txBody>
          <a:bodyPr anchor="b">
            <a:normAutofit/>
          </a:bodyPr>
          <a:lstStyle/>
          <a:p>
            <a:br>
              <a:rPr lang="en-US" sz="4100" b="0" dirty="0">
                <a:solidFill>
                  <a:srgbClr val="002060"/>
                </a:solidFill>
              </a:rPr>
            </a:br>
            <a:r>
              <a:rPr lang="en-US" sz="4100" dirty="0">
                <a:solidFill>
                  <a:srgbClr val="002060"/>
                </a:solidFill>
              </a:rPr>
              <a:t>MovieLens 100K </a:t>
            </a:r>
            <a:br>
              <a:rPr lang="en-US" sz="4100" dirty="0">
                <a:solidFill>
                  <a:srgbClr val="002060"/>
                </a:solidFill>
              </a:rPr>
            </a:br>
            <a:r>
              <a:rPr lang="en-US" sz="4100" b="0" dirty="0">
                <a:solidFill>
                  <a:srgbClr val="002060"/>
                </a:solidFill>
              </a:rPr>
              <a:t>rating dataset </a:t>
            </a:r>
            <a:endParaRPr lang="en-US" sz="4100" dirty="0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A4C1C-E022-8C1C-9193-DF2A2F73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773" y="2498895"/>
            <a:ext cx="5436920" cy="370851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178" y="228453"/>
            <a:ext cx="10873740" cy="1126993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User-Based Collaborative Filtering (CF)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Pearson Correlation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08A686-AE64-29B7-EE6F-30BF5ACF90C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5409" y="5343493"/>
            <a:ext cx="5296639" cy="12860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0F947A4-2136-72FF-63AA-73BABD495F3C}"/>
              </a:ext>
            </a:extLst>
          </p:cNvPr>
          <p:cNvSpPr/>
          <p:nvPr/>
        </p:nvSpPr>
        <p:spPr>
          <a:xfrm>
            <a:off x="485178" y="1423749"/>
            <a:ext cx="2244374" cy="9075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C28D024-BBCD-1EDF-76F8-9D75F9EEA72A}"/>
              </a:ext>
            </a:extLst>
          </p:cNvPr>
          <p:cNvGrpSpPr/>
          <p:nvPr/>
        </p:nvGrpSpPr>
        <p:grpSpPr>
          <a:xfrm>
            <a:off x="485178" y="1514507"/>
            <a:ext cx="5779144" cy="2301717"/>
            <a:chOff x="485178" y="1880539"/>
            <a:chExt cx="5779144" cy="230171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1324230-5477-DEF2-7D07-CD7C572A7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25409" y="2896202"/>
              <a:ext cx="5296639" cy="1286054"/>
            </a:xfrm>
            <a:prstGeom prst="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</p:pic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ED5F1AB2-68EC-2F83-12F9-16E0D19580FA}"/>
                </a:ext>
              </a:extLst>
            </p:cNvPr>
            <p:cNvSpPr txBox="1"/>
            <p:nvPr/>
          </p:nvSpPr>
          <p:spPr>
            <a:xfrm>
              <a:off x="485178" y="1880539"/>
              <a:ext cx="57791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1" dirty="0">
                  <a:solidFill>
                    <a:schemeClr val="bg1"/>
                  </a:solidFill>
                </a:rPr>
                <a:t>Similarity calculation </a:t>
              </a:r>
            </a:p>
            <a:p>
              <a:r>
                <a:rPr lang="en-US" sz="2000" dirty="0">
                  <a:solidFill>
                    <a:schemeClr val="bg1"/>
                  </a:solidFill>
                </a:rPr>
                <a:t>Following formula is used to find the similarities between users</a:t>
              </a:r>
            </a:p>
          </p:txBody>
        </p:sp>
      </p:grpSp>
      <p:sp>
        <p:nvSpPr>
          <p:cNvPr id="20" name="TextBox 8">
            <a:extLst>
              <a:ext uri="{FF2B5EF4-FFF2-40B4-BE49-F238E27FC236}">
                <a16:creationId xmlns:a16="http://schemas.microsoft.com/office/drawing/2014/main" id="{291AB420-A1B6-FCB0-7FFC-72F11A34DDC0}"/>
              </a:ext>
            </a:extLst>
          </p:cNvPr>
          <p:cNvSpPr txBox="1"/>
          <p:nvPr/>
        </p:nvSpPr>
        <p:spPr>
          <a:xfrm>
            <a:off x="485178" y="4020054"/>
            <a:ext cx="57791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</a:rPr>
              <a:t>Prediction function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formula below is used to estimate a user's unknown movie rating by incorporating the rating patterns of similar users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71D17F-6958-E25F-32ED-C17C450BE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4553" y="1901609"/>
            <a:ext cx="5296638" cy="472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vert="horz" lIns="0" tIns="0" rIns="0" bIns="0" rtlCol="0" anchor="b" anchorCtr="0">
            <a:noAutofit/>
          </a:bodyPr>
          <a:lstStyle/>
          <a:p>
            <a:br>
              <a:rPr lang="en-US" dirty="0">
                <a:solidFill>
                  <a:srgbClr val="002060"/>
                </a:solidFill>
              </a:rPr>
            </a:br>
            <a:r>
              <a:rPr lang="en-US" sz="4800" dirty="0">
                <a:solidFill>
                  <a:srgbClr val="002060"/>
                </a:solidFill>
              </a:rPr>
              <a:t>New similarity function</a:t>
            </a:r>
            <a:br>
              <a:rPr lang="en-US" sz="4800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Adjusted Cosine Similarity</a:t>
            </a:r>
            <a:endParaRPr lang="en-US" dirty="0">
              <a:solidFill>
                <a:srgbClr val="00206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5F5DF94-F0C3-06B0-C4A7-4214CC822C9C}"/>
              </a:ext>
            </a:extLst>
          </p:cNvPr>
          <p:cNvSpPr txBox="1"/>
          <p:nvPr/>
        </p:nvSpPr>
        <p:spPr>
          <a:xfrm>
            <a:off x="594359" y="2373860"/>
            <a:ext cx="52741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</a:rPr>
              <a:t>This similarity measure normalizes each user’s ratings by subtracting their average rating.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This </a:t>
            </a:r>
            <a:r>
              <a:rPr lang="en-US" sz="2000" b="1" dirty="0">
                <a:solidFill>
                  <a:schemeClr val="bg1"/>
                </a:solidFill>
              </a:rPr>
              <a:t>reduces personal rating bias and ensures a fair comparison between users who may have different rating habits or scales</a:t>
            </a:r>
            <a:r>
              <a:rPr lang="en-US" sz="2000" dirty="0">
                <a:solidFill>
                  <a:schemeClr val="bg1"/>
                </a:solidFill>
              </a:rPr>
              <a:t> who rate differently.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65A1CF-A20C-EBA6-CB2F-05DBAFBE6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230" y="2173572"/>
            <a:ext cx="5982535" cy="45358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FEC7BC-DB97-B8B0-685F-12EAE4467DC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0061" y="4544857"/>
            <a:ext cx="4772691" cy="129426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36603-1492-AAE7-4F7E-34462F1A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25F67-3DDF-EE1E-99BE-75E2C55C35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4" y="2990424"/>
            <a:ext cx="5232236" cy="2577862"/>
          </a:xfrm>
        </p:spPr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</a:rPr>
              <a:t>Average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Compute predicted rating for each user in the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Ensures </a:t>
            </a:r>
            <a:r>
              <a:rPr lang="en-US" b="1" dirty="0"/>
              <a:t>equal weight</a:t>
            </a:r>
            <a:r>
              <a:rPr lang="en-US" dirty="0"/>
              <a:t> for all group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be </a:t>
            </a:r>
            <a:r>
              <a:rPr lang="en-US" b="1" dirty="0"/>
              <a:t>less effective</a:t>
            </a:r>
            <a:r>
              <a:rPr lang="en-US" dirty="0"/>
              <a:t> if preferences differ strongly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5E694-E98E-7F8F-DEEA-3BBE07BFC3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64240" y="2990424"/>
            <a:ext cx="5232236" cy="3069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C00000"/>
                </a:solidFill>
              </a:rPr>
              <a:t>Least Misery Method</a:t>
            </a:r>
          </a:p>
          <a:p>
            <a:r>
              <a:rPr lang="en-US" dirty="0"/>
              <a:t>Prevents selecting items that </a:t>
            </a:r>
            <a:r>
              <a:rPr lang="en-US" b="1" dirty="0"/>
              <a:t>any member dislikes</a:t>
            </a:r>
          </a:p>
          <a:p>
            <a:r>
              <a:rPr lang="en-US" dirty="0"/>
              <a:t>Ensures </a:t>
            </a:r>
            <a:r>
              <a:rPr lang="en-US" b="1" dirty="0"/>
              <a:t>group satisfaction</a:t>
            </a:r>
            <a:r>
              <a:rPr lang="en-US" dirty="0"/>
              <a:t> by avoiding dissatisfaction</a:t>
            </a:r>
          </a:p>
          <a:p>
            <a:r>
              <a:rPr lang="en-US" dirty="0"/>
              <a:t>Best for </a:t>
            </a:r>
            <a:r>
              <a:rPr lang="en-US" b="1" dirty="0"/>
              <a:t>joint activities requiring agreement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1C421EC-B924-D4DD-539F-5217B04029BA}"/>
              </a:ext>
            </a:extLst>
          </p:cNvPr>
          <p:cNvSpPr txBox="1">
            <a:spLocks/>
          </p:cNvSpPr>
          <p:nvPr/>
        </p:nvSpPr>
        <p:spPr>
          <a:xfrm>
            <a:off x="595523" y="365641"/>
            <a:ext cx="10873740" cy="129938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002060"/>
                </a:solidFill>
              </a:rPr>
              <a:t>Group Recommendation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C3D7DB-7B47-A7A8-7CA8-EC6A62F6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99854" y="5568286"/>
            <a:ext cx="3423576" cy="121224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1E1925-A216-1242-E7F3-F52F4ED932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225796" y="5718412"/>
            <a:ext cx="3254698" cy="91199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8D421C-6239-87E9-50CF-E684CCA1A1A6}"/>
              </a:ext>
            </a:extLst>
          </p:cNvPr>
          <p:cNvSpPr txBox="1"/>
          <p:nvPr/>
        </p:nvSpPr>
        <p:spPr>
          <a:xfrm>
            <a:off x="525199" y="2230915"/>
            <a:ext cx="110143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After computing the movies recommendations for each user in the group, then aggregate the lists of 5 users to produce a single list of movies for the group using below methods.</a:t>
            </a:r>
          </a:p>
        </p:txBody>
      </p:sp>
    </p:spTree>
    <p:extLst>
      <p:ext uri="{BB962C8B-B14F-4D97-AF65-F5344CB8AC3E}">
        <p14:creationId xmlns:p14="http://schemas.microsoft.com/office/powerpoint/2010/main" val="2212752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2EA4-AB82-A2F1-D3F5-8269D7AB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able Placeholder 7">
                <a:extLst>
                  <a:ext uri="{FF2B5EF4-FFF2-40B4-BE49-F238E27FC236}">
                    <a16:creationId xmlns:a16="http://schemas.microsoft.com/office/drawing/2014/main" id="{6EAA1160-510C-952B-2FCB-190994DF06BA}"/>
                  </a:ext>
                </a:extLst>
              </p:cNvPr>
              <p:cNvSpPr>
                <a:spLocks noGrp="1"/>
              </p:cNvSpPr>
              <p:nvPr>
                <p:ph type="tbl" sz="quarter" idx="10"/>
              </p:nvPr>
            </p:nvSpPr>
            <p:spPr>
              <a:xfrm>
                <a:off x="485178" y="2224585"/>
                <a:ext cx="5610822" cy="4244454"/>
              </a:xfrm>
            </p:spPr>
            <p:txBody>
              <a:bodyPr/>
              <a:lstStyle/>
              <a:p>
                <a:pPr marL="457200" indent="-457200"/>
                <a:r>
                  <a:rPr lang="en-US" sz="2400" dirty="0"/>
                  <a:t>Measure how much the group </a:t>
                </a:r>
                <a:r>
                  <a:rPr lang="en-US" sz="2400" b="1" dirty="0"/>
                  <a:t>disagree</a:t>
                </a:r>
                <a:r>
                  <a:rPr lang="en-US" sz="2400" dirty="0"/>
                  <a:t> on each movie using </a:t>
                </a:r>
                <a:r>
                  <a:rPr lang="en-US" sz="2400" b="1" dirty="0"/>
                  <a:t>standard deviation</a:t>
                </a:r>
                <a:endParaRPr lang="en-US" sz="2400" dirty="0"/>
              </a:p>
              <a:p>
                <a:pPr marL="457200" indent="-457200"/>
                <a:endParaRPr lang="en-US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400" dirty="0"/>
              </a:p>
              <a:p>
                <a:pPr marL="457200" indent="-457200"/>
                <a:r>
                  <a:rPr lang="en-US" sz="2400" dirty="0"/>
                  <a:t>Then adjust the group recommendation score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/>
                      <m:t>penalty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coefficient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controlling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the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impact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of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disagreement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=0.5)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457200" indent="-457200"/>
                <a:endParaRPr lang="en-US" sz="2400" dirty="0"/>
              </a:p>
            </p:txBody>
          </p:sp>
        </mc:Choice>
        <mc:Fallback xmlns="">
          <p:sp>
            <p:nvSpPr>
              <p:cNvPr id="8" name="Table Placeholder 7">
                <a:extLst>
                  <a:ext uri="{FF2B5EF4-FFF2-40B4-BE49-F238E27FC236}">
                    <a16:creationId xmlns:a16="http://schemas.microsoft.com/office/drawing/2014/main" id="{6EAA1160-510C-952B-2FCB-190994DF0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bl" sz="quarter" idx="10"/>
              </p:nvPr>
            </p:nvSpPr>
            <p:spPr>
              <a:xfrm>
                <a:off x="485178" y="2224585"/>
                <a:ext cx="5610822" cy="4244454"/>
              </a:xfrm>
              <a:blipFill>
                <a:blip r:embed="rId3"/>
                <a:stretch>
                  <a:fillRect l="-1522" t="-1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DA766A7-8527-DDCF-EBE8-E3EE000E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38" y="832513"/>
            <a:ext cx="10873740" cy="1076243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sz="4800" dirty="0">
                <a:solidFill>
                  <a:srgbClr val="002060"/>
                </a:solidFill>
              </a:rPr>
              <a:t>Disagreement</a:t>
            </a:r>
            <a:br>
              <a:rPr lang="en-US" sz="4800" dirty="0">
                <a:solidFill>
                  <a:srgbClr val="002060"/>
                </a:solidFill>
              </a:rPr>
            </a:br>
            <a:r>
              <a:rPr lang="en-US" sz="3200" dirty="0">
                <a:solidFill>
                  <a:srgbClr val="002060"/>
                </a:solidFill>
              </a:rPr>
              <a:t>Aware Method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5DBEE-67D6-6218-0CCF-49CBA86DCB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530" y="3306616"/>
            <a:ext cx="2881810" cy="1054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1AD7EE-66E3-04E9-F7D7-E2EC9307CB2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44531" y="5840472"/>
            <a:ext cx="2881809" cy="848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8ACAD-0626-15FE-19BD-9B867A35B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350" y="2224585"/>
            <a:ext cx="5890472" cy="420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25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C6E0DF-059A-4BAB-0687-F7BB1C8063BA}"/>
              </a:ext>
            </a:extLst>
          </p:cNvPr>
          <p:cNvSpPr txBox="1"/>
          <p:nvPr/>
        </p:nvSpPr>
        <p:spPr>
          <a:xfrm>
            <a:off x="595953" y="1398688"/>
            <a:ext cx="10595211" cy="5106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Pros of Using Standard Deviation for Measuring User Disagreement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lvl="2"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📊 </a:t>
            </a:r>
            <a:r>
              <a:rPr lang="en-US" sz="2000" dirty="0">
                <a:solidFill>
                  <a:schemeClr val="bg1"/>
                </a:solidFill>
              </a:rPr>
              <a:t>Intuitive and easy to interpret 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⚖️ Reflects strength of disagreement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🧮 Statistically sound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🔁 Smooth and continuous measure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📏 Same scale as ratings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👥 Detects polarization</a:t>
            </a:r>
          </a:p>
          <a:p>
            <a:pPr lvl="2">
              <a:lnSpc>
                <a:spcPct val="200000"/>
              </a:lnSpc>
            </a:pPr>
            <a:r>
              <a:rPr lang="en-US" sz="2000" dirty="0">
                <a:solidFill>
                  <a:schemeClr val="bg1"/>
                </a:solidFill>
              </a:rPr>
              <a:t>🌍 Scalable for any group size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48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2333767"/>
            <a:ext cx="5486400" cy="136955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{9251C412-963E-49E9-899C-4C6644AFC53F}TFd3b75063-ff25-434d-b12c-efeaf07d16c3292f62b5_win32-75a75c970d8e</Template>
  <TotalTime>658</TotalTime>
  <Words>278</Words>
  <Application>Microsoft Office PowerPoint</Application>
  <PresentationFormat>Widescreen</PresentationFormat>
  <Paragraphs>44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 Math</vt:lpstr>
      <vt:lpstr>Franklin Gothic Book</vt:lpstr>
      <vt:lpstr>Franklin Gothic Demi</vt:lpstr>
      <vt:lpstr>Custom</vt:lpstr>
      <vt:lpstr>Recommender Systems      Part 1</vt:lpstr>
      <vt:lpstr> MovieLens 100K  rating dataset </vt:lpstr>
      <vt:lpstr>User-Based Collaborative Filtering (CF) Pearson Correlation</vt:lpstr>
      <vt:lpstr> New similarity function Adjusted Cosine Similarity</vt:lpstr>
      <vt:lpstr>PowerPoint Presentation</vt:lpstr>
      <vt:lpstr>Disagreement Aware Method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Hasitha Ranathunga</dc:creator>
  <cp:lastModifiedBy>Dilrukshi Kattadiyale Gedara</cp:lastModifiedBy>
  <cp:revision>7</cp:revision>
  <dcterms:created xsi:type="dcterms:W3CDTF">2025-11-06T15:58:54Z</dcterms:created>
  <dcterms:modified xsi:type="dcterms:W3CDTF">2026-06-11T12:48:28Z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