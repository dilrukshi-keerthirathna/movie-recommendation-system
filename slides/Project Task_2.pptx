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2"/>
  </p:notesMasterIdLst>
  <p:handoutMasterIdLst>
    <p:handoutMasterId r:id="rId13"/>
  </p:handoutMasterIdLst>
  <p:sldIdLst>
    <p:sldId id="410" r:id="rId5"/>
    <p:sldId id="383" r:id="rId6"/>
    <p:sldId id="403" r:id="rId7"/>
    <p:sldId id="414" r:id="rId8"/>
    <p:sldId id="415" r:id="rId9"/>
    <p:sldId id="416" r:id="rId10"/>
    <p:sldId id="39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061" autoAdjust="0"/>
  </p:normalViewPr>
  <p:slideViewPr>
    <p:cSldViewPr snapToGrid="0">
      <p:cViewPr varScale="1">
        <p:scale>
          <a:sx n="77" d="100"/>
          <a:sy n="77" d="100"/>
        </p:scale>
        <p:origin x="77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9C470-F58A-8674-1001-4C1538200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5DA23-D817-2358-02FE-8AC42608C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CE8A0-E6D6-2BF0-E5FE-596EC9390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4570B-A890-8FCE-D9E7-69AF2B9D4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593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999CA-536C-D236-4B2E-4E96ECB10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140B9-FB54-AD6B-9472-49E28B013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548BD-A06E-7216-02BA-F2FBBCAD1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1BB1D-F11D-4873-CCBC-52C046001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003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4970" y="1480847"/>
            <a:ext cx="7902055" cy="3291840"/>
          </a:xfrm>
        </p:spPr>
        <p:txBody>
          <a:bodyPr/>
          <a:lstStyle/>
          <a:p>
            <a:pPr algn="ctr"/>
            <a: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Sequential Group Recommendation</a:t>
            </a:r>
            <a:b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</a:t>
            </a:r>
            <a:r>
              <a:rPr lang="en-US" sz="44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2</a:t>
            </a:r>
            <a:endParaRPr lang="en-US" sz="72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D6C318-5B81-0E80-197F-31DEB0A52ACC}"/>
              </a:ext>
            </a:extLst>
          </p:cNvPr>
          <p:cNvSpPr txBox="1"/>
          <p:nvPr/>
        </p:nvSpPr>
        <p:spPr>
          <a:xfrm>
            <a:off x="4999587" y="5858306"/>
            <a:ext cx="3043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</a:rPr>
              <a:t>Dilrukshi Keerthirathna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Kalpana </a:t>
            </a:r>
            <a:r>
              <a:rPr lang="en-US" sz="2000" b="1" dirty="0" err="1">
                <a:solidFill>
                  <a:schemeClr val="bg1"/>
                </a:solidFill>
              </a:rPr>
              <a:t>Randeniya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575187"/>
            <a:ext cx="8918351" cy="1276130"/>
          </a:xfrm>
        </p:spPr>
        <p:txBody>
          <a:bodyPr anchor="b">
            <a:noAutofit/>
          </a:bodyPr>
          <a:lstStyle/>
          <a:p>
            <a:br>
              <a:rPr lang="en-US" sz="4800" b="0" dirty="0">
                <a:solidFill>
                  <a:srgbClr val="002060"/>
                </a:solidFill>
              </a:rPr>
            </a:br>
            <a:r>
              <a:rPr lang="en-US" sz="4800" dirty="0">
                <a:solidFill>
                  <a:srgbClr val="002060"/>
                </a:solidFill>
              </a:rPr>
              <a:t>Drawbacks of Static Aggregation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FE7B8-A4D5-4F28-55E8-351312966FAE}"/>
              </a:ext>
            </a:extLst>
          </p:cNvPr>
          <p:cNvSpPr>
            <a:spLocks noGrp="1"/>
          </p:cNvSpPr>
          <p:nvPr/>
        </p:nvSpPr>
        <p:spPr>
          <a:xfrm>
            <a:off x="594359" y="2360874"/>
            <a:ext cx="11597641" cy="4954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Average Method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indent="-342900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Treats all group members equally and easily ignores the minority preference, leading to high disagreement</a:t>
            </a:r>
          </a:p>
          <a:p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Least Misery Method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Often recommends bland items with low preference scores for everyone (low utility)</a:t>
            </a:r>
          </a:p>
          <a:p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Motivation for Sequential Methods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Static methods only produce a single list and cannot adapt over time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Need a method that considers sequential group preference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124098"/>
            <a:ext cx="11520009" cy="1264518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Proposed Method :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Markov Decision Process (MDP)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F947A4-2136-72FF-63AA-73BABD495F3C}"/>
              </a:ext>
            </a:extLst>
          </p:cNvPr>
          <p:cNvSpPr/>
          <p:nvPr/>
        </p:nvSpPr>
        <p:spPr>
          <a:xfrm>
            <a:off x="485178" y="1423749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71C9321-54BC-8063-1AAF-B7A6D9295DFB}"/>
              </a:ext>
            </a:extLst>
          </p:cNvPr>
          <p:cNvSpPr txBox="1">
            <a:spLocks/>
          </p:cNvSpPr>
          <p:nvPr/>
        </p:nvSpPr>
        <p:spPr>
          <a:xfrm>
            <a:off x="185293" y="1514507"/>
            <a:ext cx="12006707" cy="5343493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MDP Components: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State: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Current movie recommended to the group</a:t>
            </a:r>
          </a:p>
          <a:p>
            <a:pPr marL="402336" lvl="1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Action: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Next movie to recommend, balancing individual interests</a:t>
            </a:r>
          </a:p>
          <a:p>
            <a:pPr marL="402336" lvl="1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Transition Probability:</a:t>
            </a:r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Likelihood of moving from one movie to another, based on historical group preferences (e.g., highly rated movies are prioritized)</a:t>
            </a:r>
          </a:p>
          <a:p>
            <a:pPr marL="402336" lvl="1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Reward:</a:t>
            </a:r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Aggregated group satisfaction (e.g., average rating), guiding future recommendations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Why MDP Works:</a:t>
            </a:r>
          </a:p>
          <a:p>
            <a:pPr marL="914400" lvl="1" indent="-457200"/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Learns the best sequence instead of a single list</a:t>
            </a:r>
          </a:p>
          <a:p>
            <a:pPr marL="914400" lvl="1" indent="-457200"/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Balances group members’ preferences across multiple rounds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A5826-8371-AA38-2C3E-D937B152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05A7FB-0D65-636E-AAC4-B68A6927F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353960"/>
            <a:ext cx="11520009" cy="819800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Pipeline 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B1F423-B2A7-71C5-63D6-075BC85C7705}"/>
              </a:ext>
            </a:extLst>
          </p:cNvPr>
          <p:cNvSpPr/>
          <p:nvPr/>
        </p:nvSpPr>
        <p:spPr>
          <a:xfrm>
            <a:off x="485178" y="1247664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7AD849-9342-B9F2-9477-94B464CF28C1}"/>
              </a:ext>
            </a:extLst>
          </p:cNvPr>
          <p:cNvSpPr txBox="1">
            <a:spLocks/>
          </p:cNvSpPr>
          <p:nvPr/>
        </p:nvSpPr>
        <p:spPr>
          <a:xfrm>
            <a:off x="485178" y="1412326"/>
            <a:ext cx="10873739" cy="5445674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Generates a ranked list of new, group-unseen movies that the user is most likely to enjoy, using collaborative-filtering predictions</a:t>
            </a:r>
          </a:p>
          <a:p>
            <a:r>
              <a:rPr lang="en-US" dirty="0"/>
              <a:t>Calculate how satisfied a user is with the group’s recommended list by comparing the total predicted ratings of the group’s movies to the total predicted ratings of the user’s own top-k ideal movies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Disagreement calculation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73319-CB7D-20E0-4FA3-A5418462BB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00267" y="3613931"/>
            <a:ext cx="4441771" cy="1281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D22AB9-F79D-E437-A252-E4CE4FF7053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00267" y="5710181"/>
            <a:ext cx="5776394" cy="79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80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0EECC-0C9F-FE59-8A2C-0EF39E110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B61815-199D-E4E7-0B98-B2FCEC58B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353960"/>
            <a:ext cx="11520009" cy="819800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Pipeline Overview </a:t>
            </a:r>
            <a:r>
              <a:rPr lang="en-US" dirty="0" err="1">
                <a:solidFill>
                  <a:srgbClr val="002060"/>
                </a:solidFill>
              </a:rPr>
              <a:t>cont</a:t>
            </a:r>
            <a:r>
              <a:rPr lang="en-US" dirty="0">
                <a:solidFill>
                  <a:srgbClr val="002060"/>
                </a:solidFill>
              </a:rPr>
              <a:t>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943CD6-D844-6644-92BC-D85D0A3D3607}"/>
              </a:ext>
            </a:extLst>
          </p:cNvPr>
          <p:cNvSpPr/>
          <p:nvPr/>
        </p:nvSpPr>
        <p:spPr>
          <a:xfrm>
            <a:off x="485178" y="1247664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BFD113-E1FB-6D6D-24D9-1937EBEE8182}"/>
              </a:ext>
            </a:extLst>
          </p:cNvPr>
          <p:cNvSpPr txBox="1">
            <a:spLocks/>
          </p:cNvSpPr>
          <p:nvPr/>
        </p:nvSpPr>
        <p:spPr>
          <a:xfrm>
            <a:off x="485178" y="1412326"/>
            <a:ext cx="10767841" cy="5445674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Calculate weighted blend of Average and Least Misery predicted ratings across users, using disagreement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Calculate Predicted Average Satisfaction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14F707-4DA5-9270-A278-504ACA19C9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57907" y="3101728"/>
            <a:ext cx="6788235" cy="6545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1AFD00-A6EE-4A24-FB93-87353417B3C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57907" y="5000413"/>
            <a:ext cx="4104028" cy="89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70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E23D-676E-1B49-3EBC-25DD4C00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28" y="951971"/>
            <a:ext cx="6787747" cy="915514"/>
          </a:xfrm>
        </p:spPr>
        <p:txBody>
          <a:bodyPr/>
          <a:lstStyle/>
          <a:p>
            <a:r>
              <a:rPr lang="en-US" spc="100" dirty="0">
                <a:solidFill>
                  <a:srgbClr val="002060"/>
                </a:solidFill>
              </a:rPr>
              <a:t>Simulation </a:t>
            </a:r>
            <a:br>
              <a:rPr lang="en-US" spc="100" dirty="0">
                <a:solidFill>
                  <a:srgbClr val="002060"/>
                </a:solidFill>
              </a:rPr>
            </a:br>
            <a:r>
              <a:rPr lang="en-US" spc="100" dirty="0">
                <a:solidFill>
                  <a:srgbClr val="002060"/>
                </a:solidFill>
              </a:rPr>
              <a:t>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414B9-1012-D4D7-381E-BB6174E571B3}"/>
              </a:ext>
            </a:extLst>
          </p:cNvPr>
          <p:cNvSpPr txBox="1"/>
          <p:nvPr/>
        </p:nvSpPr>
        <p:spPr>
          <a:xfrm>
            <a:off x="6493412" y="2349199"/>
            <a:ext cx="5698588" cy="4649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228600" lvl="0" indent="-283464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High average satisfaction across most groups (&gt; 0.8)</a:t>
            </a:r>
          </a:p>
          <a:p>
            <a:pPr marL="228600" lvl="0" indent="-283464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Significant disagreement (α) for some groups — split preferences on top picks</a:t>
            </a:r>
          </a:p>
          <a:p>
            <a:pPr marL="228600" lvl="0" indent="-283464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Substantial variation in fairness: some rounds show high satisfaction disparity (std dev up to ~0.6)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66912739-F858-688C-11CA-D1278ADA0AF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36461" y="2949215"/>
            <a:ext cx="6183450" cy="344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54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2333767"/>
            <a:ext cx="5486400" cy="136955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{9251C412-963E-49E9-899C-4C6644AFC53F}TFd3b75063-ff25-434d-b12c-efeaf07d16c3292f62b5_win32-75a75c970d8e</Template>
  <TotalTime>1381</TotalTime>
  <Words>311</Words>
  <Application>Microsoft Office PowerPoint</Application>
  <PresentationFormat>Widescreen</PresentationFormat>
  <Paragraphs>46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Franklin Gothic Book</vt:lpstr>
      <vt:lpstr>Franklin Gothic Demi</vt:lpstr>
      <vt:lpstr>Wingdings</vt:lpstr>
      <vt:lpstr>Custom</vt:lpstr>
      <vt:lpstr>Sequential Group Recommendation      Part 2</vt:lpstr>
      <vt:lpstr> Drawbacks of Static Aggregation Methods</vt:lpstr>
      <vt:lpstr>Proposed Method :  Markov Decision Process (MDP)</vt:lpstr>
      <vt:lpstr>Pipeline Overview</vt:lpstr>
      <vt:lpstr>Pipeline Overview cont…</vt:lpstr>
      <vt:lpstr>Simulation  Findings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Hasitha Ranathunga</dc:creator>
  <cp:lastModifiedBy>Dilrukshi Kattadiyale Gedara</cp:lastModifiedBy>
  <cp:revision>14</cp:revision>
  <dcterms:created xsi:type="dcterms:W3CDTF">2025-11-06T15:58:54Z</dcterms:created>
  <dcterms:modified xsi:type="dcterms:W3CDTF">2026-06-11T12:50:02Z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