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1"/>
  </p:notesMasterIdLst>
  <p:handoutMasterIdLst>
    <p:handoutMasterId r:id="rId12"/>
  </p:handoutMasterIdLst>
  <p:sldIdLst>
    <p:sldId id="410" r:id="rId5"/>
    <p:sldId id="383" r:id="rId6"/>
    <p:sldId id="403" r:id="rId7"/>
    <p:sldId id="414" r:id="rId8"/>
    <p:sldId id="416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C470-F58A-8674-1001-4C153820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5DA23-D817-2358-02FE-8AC4260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CE8A0-E6D6-2BF0-E5FE-596EC939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4570B-A890-8FCE-D9E7-69AF2B9D4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9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666" y="1076632"/>
            <a:ext cx="10648334" cy="3696055"/>
          </a:xfrm>
        </p:spPr>
        <p:txBody>
          <a:bodyPr/>
          <a:lstStyle/>
          <a:p>
            <a:pPr algn="ctr"/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Diversifying Sequential Group Recommendations</a:t>
            </a:r>
            <a:b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</a:t>
            </a:r>
            <a:r>
              <a:rPr lang="en-US" sz="4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3</a:t>
            </a:r>
            <a:endParaRPr lang="en-US" sz="7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2F0A2-1201-B4E2-FC32-5FA85FBF477E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840658"/>
            <a:ext cx="11263344" cy="1276130"/>
          </a:xfrm>
        </p:spPr>
        <p:txBody>
          <a:bodyPr anchor="b">
            <a:noAutofit/>
          </a:bodyPr>
          <a:lstStyle/>
          <a:p>
            <a:br>
              <a:rPr lang="en-US" sz="4800" b="0" dirty="0">
                <a:solidFill>
                  <a:srgbClr val="002060"/>
                </a:solidFill>
              </a:rPr>
            </a:br>
            <a:r>
              <a:rPr lang="en-US" sz="4800" dirty="0">
                <a:solidFill>
                  <a:srgbClr val="002060"/>
                </a:solidFill>
              </a:rPr>
              <a:t>Why Diversity Matters: </a:t>
            </a:r>
            <a:br>
              <a:rPr lang="en-US" sz="4800" dirty="0">
                <a:solidFill>
                  <a:srgbClr val="002060"/>
                </a:solidFill>
              </a:rPr>
            </a:br>
            <a:r>
              <a:rPr lang="en-US" sz="4800" dirty="0">
                <a:solidFill>
                  <a:srgbClr val="002060"/>
                </a:solidFill>
              </a:rPr>
              <a:t>Mitigating Bias in Sequential Group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FE7B8-A4D5-4F28-55E8-351312966FAE}"/>
              </a:ext>
            </a:extLst>
          </p:cNvPr>
          <p:cNvSpPr>
            <a:spLocks noGrp="1"/>
          </p:cNvSpPr>
          <p:nvPr/>
        </p:nvSpPr>
        <p:spPr>
          <a:xfrm>
            <a:off x="594359" y="2322476"/>
            <a:ext cx="11597641" cy="49554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Diversity ensures users are exposed to a wide range of content, moving beyond their established preferences.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Diversity actively helps to prevent the reinforcement of biases that arise from repeated exposure to similar types of content over time.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Risk of Past Behavior.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make the recommendations more effective, our solution leverages Greedy Randomized with Neighborhood Expansion (GNE) with Greedy Marginal Contribution (GMC) </a:t>
            </a:r>
            <a:endParaRPr lang="en-US" altLang="en-US" sz="2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617560"/>
            <a:ext cx="12360667" cy="126451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Proposed Method :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Greedy Randomized with Neighborhood Expansion (GRNE)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947A4-2136-72FF-63AA-73BABD495F3C}"/>
              </a:ext>
            </a:extLst>
          </p:cNvPr>
          <p:cNvSpPr/>
          <p:nvPr/>
        </p:nvSpPr>
        <p:spPr>
          <a:xfrm>
            <a:off x="485178" y="2072668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1C9321-54BC-8063-1AAF-B7A6D9295DFB}"/>
              </a:ext>
            </a:extLst>
          </p:cNvPr>
          <p:cNvSpPr txBox="1">
            <a:spLocks/>
          </p:cNvSpPr>
          <p:nvPr/>
        </p:nvSpPr>
        <p:spPr>
          <a:xfrm>
            <a:off x="485178" y="2510650"/>
            <a:ext cx="10905494" cy="5343493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a </a:t>
            </a:r>
            <a:r>
              <a:rPr lang="en-US" b="1" dirty="0"/>
              <a:t>Greedy Selection</a:t>
            </a:r>
            <a:r>
              <a:rPr lang="en-US" dirty="0"/>
              <a:t> process to ensure high relevance to the group profile.</a:t>
            </a:r>
          </a:p>
          <a:p>
            <a:r>
              <a:rPr lang="en-US" dirty="0"/>
              <a:t>Introduce a </a:t>
            </a:r>
            <a:r>
              <a:rPr lang="en-US" b="1" dirty="0"/>
              <a:t>Diversity Penalty</a:t>
            </a:r>
            <a:r>
              <a:rPr lang="en-US" dirty="0"/>
              <a:t> (cost function) to discourage selecting items very similar to those already chosen.</a:t>
            </a:r>
          </a:p>
          <a:p>
            <a:r>
              <a:rPr lang="en-US" dirty="0"/>
              <a:t>Add a </a:t>
            </a:r>
            <a:r>
              <a:rPr lang="en-US" b="1" dirty="0"/>
              <a:t>Randomized Component</a:t>
            </a:r>
            <a:r>
              <a:rPr lang="en-US" dirty="0"/>
              <a:t> to break local optima and explore a broader "neighborhood" of good, diverse items.</a:t>
            </a: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A5826-8371-AA38-2C3E-D937B152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05A7FB-0D65-636E-AAC4-B68A6927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353960"/>
            <a:ext cx="11520009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Core Logic behind GRNE Algorithm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B1F423-B2A7-71C5-63D6-075BC85C7705}"/>
              </a:ext>
            </a:extLst>
          </p:cNvPr>
          <p:cNvSpPr/>
          <p:nvPr/>
        </p:nvSpPr>
        <p:spPr>
          <a:xfrm>
            <a:off x="485178" y="1247664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7AD849-9342-B9F2-9477-94B464CF28C1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873739" cy="5445674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DCA1B-1141-1EC5-B258-21CCF2693402}"/>
              </a:ext>
            </a:extLst>
          </p:cNvPr>
          <p:cNvSpPr txBox="1"/>
          <p:nvPr/>
        </p:nvSpPr>
        <p:spPr>
          <a:xfrm>
            <a:off x="182880" y="1783133"/>
            <a:ext cx="1182624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1</a:t>
            </a:r>
            <a:r>
              <a:rPr lang="en-GB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Aggregate group preferences into a group profile using weighted relevance scores based on individual user-item ratings.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2</a:t>
            </a:r>
            <a:r>
              <a:rPr lang="en-GB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Identify candidate items based on their relevance to the group’s preferences.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3</a:t>
            </a:r>
            <a:r>
              <a:rPr lang="en-GB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Introduce diversity by reducing the score of items similar to those already recommended, using </a:t>
            </a:r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cosine similarity</a:t>
            </a:r>
            <a:r>
              <a:rPr lang="en-GB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4</a:t>
            </a:r>
            <a:r>
              <a:rPr lang="en-GB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Include randomization to explore items beyond the highest-ranked ones.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5</a:t>
            </a:r>
            <a:r>
              <a:rPr lang="en-GB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Iteratively recommend items while ensuring both relevance and diversity in the final set.</a:t>
            </a:r>
            <a:endParaRPr lang="en-US" sz="2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A8921-ACDC-2FC6-497A-45BAC25528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3083" y="5375437"/>
            <a:ext cx="3318596" cy="9958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00C765-1D43-74DD-667E-A8AEC5A2AD2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626013" y="5375437"/>
            <a:ext cx="5305263" cy="99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8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E23D-676E-1B49-3EBC-25DD4C00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17820"/>
            <a:ext cx="6787747" cy="699867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output</a:t>
            </a:r>
            <a:endParaRPr lang="en-US" spc="1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35BF8-1083-BC65-D19F-D582BB0F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3" y="1425810"/>
            <a:ext cx="11705210" cy="244190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0FB8F4-F3F3-F9F5-A688-B531A08D9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3" y="4196284"/>
            <a:ext cx="11705210" cy="238341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C12B82-0E0C-B8C0-6C70-B32FD8719F13}"/>
              </a:ext>
            </a:extLst>
          </p:cNvPr>
          <p:cNvSpPr/>
          <p:nvPr/>
        </p:nvSpPr>
        <p:spPr>
          <a:xfrm>
            <a:off x="272134" y="1006481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5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2459</TotalTime>
  <Words>267</Words>
  <Application>Microsoft Office PowerPoint</Application>
  <PresentationFormat>Widescreen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Book</vt:lpstr>
      <vt:lpstr>Franklin Gothic Demi</vt:lpstr>
      <vt:lpstr>Custom</vt:lpstr>
      <vt:lpstr>Diversifying Sequential Group Recommendations      Part 3</vt:lpstr>
      <vt:lpstr> Why Diversity Matters:  Mitigating Bias in Sequential Group Recommendations</vt:lpstr>
      <vt:lpstr>Proposed Method :  Greedy Randomized with Neighborhood Expansion (GRNE)</vt:lpstr>
      <vt:lpstr>Core Logic behind GRNE Algorithm</vt:lpstr>
      <vt:lpstr>Implementation output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14</cp:revision>
  <dcterms:created xsi:type="dcterms:W3CDTF">2025-11-06T15:58:54Z</dcterms:created>
  <dcterms:modified xsi:type="dcterms:W3CDTF">2026-06-11T12:50:19Z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