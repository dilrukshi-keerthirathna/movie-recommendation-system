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1"/>
  </p:notesMasterIdLst>
  <p:handoutMasterIdLst>
    <p:handoutMasterId r:id="rId12"/>
  </p:handoutMasterIdLst>
  <p:sldIdLst>
    <p:sldId id="410" r:id="rId5"/>
    <p:sldId id="417" r:id="rId6"/>
    <p:sldId id="414" r:id="rId7"/>
    <p:sldId id="418" r:id="rId8"/>
    <p:sldId id="416" r:id="rId9"/>
    <p:sldId id="3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061" autoAdjust="0"/>
  </p:normalViewPr>
  <p:slideViewPr>
    <p:cSldViewPr snapToGrid="0">
      <p:cViewPr varScale="1">
        <p:scale>
          <a:sx n="77" d="100"/>
          <a:sy n="77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BE42-ED5D-D959-9667-34E07A2A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4468A-3817-D825-35B4-ED11CE46F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1C8C2-8584-EB50-BFE5-1DE9FE5D9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8B7A9-97DD-33EA-41E0-9F4654B8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848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9C470-F58A-8674-1001-4C153820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5DA23-D817-2358-02FE-8AC42608C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CE8A0-E6D6-2BF0-E5FE-596EC939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4570B-A890-8FCE-D9E7-69AF2B9D4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403C-D6B6-F4E0-0EB8-23AAD3E2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59B04-69FE-F4F1-A8F6-9D7F5E95B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A9793-D969-D13B-9B82-DFB80A050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E50A2-35CE-05CF-2D8A-D93046596C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78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056" y="1076632"/>
            <a:ext cx="10419887" cy="3637686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rgbClr val="002060"/>
                </a:solidFill>
              </a:rPr>
              <a:t>Counterfactual Explanations for Group Recommendations</a:t>
            </a:r>
            <a:br>
              <a:rPr lang="en-GB" sz="6600" dirty="0">
                <a:solidFill>
                  <a:srgbClr val="002060"/>
                </a:solidFill>
              </a:rPr>
            </a:br>
            <a:r>
              <a:rPr lang="en-US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4</a:t>
            </a:r>
            <a:endParaRPr lang="en-US" sz="6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309807-DE36-B579-CE19-8EB401F9AEED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63B99-69B0-EC03-CF60-49795DFE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6F1E67A-0A1B-38D0-40CB-47BB27670B21}"/>
              </a:ext>
            </a:extLst>
          </p:cNvPr>
          <p:cNvSpPr/>
          <p:nvPr/>
        </p:nvSpPr>
        <p:spPr>
          <a:xfrm>
            <a:off x="609108" y="1568425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C1441D-F59D-BF24-DE99-9E5ACAAF9669}"/>
              </a:ext>
            </a:extLst>
          </p:cNvPr>
          <p:cNvSpPr txBox="1">
            <a:spLocks/>
          </p:cNvSpPr>
          <p:nvPr/>
        </p:nvSpPr>
        <p:spPr>
          <a:xfrm>
            <a:off x="457200" y="246916"/>
            <a:ext cx="10397613" cy="12761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solidFill>
                  <a:srgbClr val="002060"/>
                </a:solidFill>
              </a:rPr>
              <a:t>Why do groups need counterfactual explanations?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862FDA0-7107-E79D-9BA0-D227BB257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68" y="1991927"/>
            <a:ext cx="1189703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Counterfactual explanations show </a:t>
            </a: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specific movie ratings by users affect the group recommendations.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Importance for group recommendations: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fairness :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avoids giving one user’s ratings too much influence over group suggestions.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Highlights influential movies :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identifies which movies in the dataset caused specific recommendations for the whole group.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transparency: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members understand why certain movies appear in their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6813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A5826-8371-AA38-2C3E-D937B152C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05A7FB-0D65-636E-AAC4-B68A6927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297140"/>
            <a:ext cx="7728608" cy="8198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>
                <a:solidFill>
                  <a:srgbClr val="002060"/>
                </a:solidFill>
                <a:sym typeface="Bara TH"/>
              </a:rPr>
              <a:t>Example Explanation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B1F423-B2A7-71C5-63D6-075BC85C7705}"/>
              </a:ext>
            </a:extLst>
          </p:cNvPr>
          <p:cNvSpPr/>
          <p:nvPr/>
        </p:nvSpPr>
        <p:spPr>
          <a:xfrm>
            <a:off x="485178" y="1247664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7AD849-9342-B9F2-9477-94B464CF28C1}"/>
              </a:ext>
            </a:extLst>
          </p:cNvPr>
          <p:cNvSpPr txBox="1">
            <a:spLocks/>
          </p:cNvSpPr>
          <p:nvPr/>
        </p:nvSpPr>
        <p:spPr>
          <a:xfrm>
            <a:off x="485178" y="1412326"/>
            <a:ext cx="10873739" cy="5445674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0A0903FD-A76F-C44F-BAAE-C3477BB677C9}"/>
              </a:ext>
            </a:extLst>
          </p:cNvPr>
          <p:cNvSpPr txBox="1"/>
          <p:nvPr/>
        </p:nvSpPr>
        <p:spPr>
          <a:xfrm>
            <a:off x="387124" y="1599870"/>
            <a:ext cx="11520009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C00000"/>
                </a:solidFill>
                <a:sym typeface="Bara TH"/>
              </a:rPr>
              <a:t>Scenario</a:t>
            </a:r>
            <a:r>
              <a:rPr lang="en-GB" sz="2800" b="1" dirty="0">
                <a:solidFill>
                  <a:schemeClr val="bg1"/>
                </a:solidFill>
                <a:sym typeface="Bara TH"/>
              </a:rPr>
              <a:t> </a:t>
            </a:r>
            <a:endParaRPr lang="en-AS" sz="2800" b="1" dirty="0">
              <a:solidFill>
                <a:schemeClr val="bg1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sym typeface="Bara TH"/>
              </a:rPr>
              <a:t>Group of users: [User 1, User 2, User 3, User 4, User 5].</a:t>
            </a:r>
            <a:endParaRPr lang="en-AS" sz="2800" dirty="0">
              <a:solidFill>
                <a:schemeClr val="bg1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sym typeface="Bara TH"/>
              </a:rPr>
              <a:t>Top recommended item: Movie A.</a:t>
            </a:r>
          </a:p>
          <a:p>
            <a:pPr marL="1259838" lvl="3" algn="just"/>
            <a:endParaRPr lang="en-AS" sz="2800" dirty="0">
              <a:solidFill>
                <a:schemeClr val="bg1"/>
              </a:solidFill>
              <a:sym typeface="Bara TH"/>
            </a:endParaRPr>
          </a:p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C00000"/>
                </a:solidFill>
                <a:sym typeface="Bara TH"/>
              </a:rPr>
              <a:t>Explanation</a:t>
            </a:r>
            <a:endParaRPr lang="en-AS" sz="2800" b="1" dirty="0">
              <a:solidFill>
                <a:srgbClr val="C00000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sym typeface="Bara TH"/>
              </a:rPr>
              <a:t>"If the group had not interacted with {Movie B, Movie C}, then Movie A would not have been suggested.“</a:t>
            </a:r>
            <a:endParaRPr lang="en-AS" sz="2800" dirty="0">
              <a:solidFill>
                <a:schemeClr val="bg1"/>
              </a:solidFill>
              <a:sym typeface="Bara TH"/>
            </a:endParaRPr>
          </a:p>
          <a:p>
            <a:pPr marL="345438" lvl="1" algn="just"/>
            <a:endParaRPr lang="en-AS" sz="2800" dirty="0">
              <a:solidFill>
                <a:schemeClr val="bg1"/>
              </a:solidFill>
              <a:sym typeface="Bara TH"/>
            </a:endParaRPr>
          </a:p>
          <a:p>
            <a:pPr marL="802638" lvl="1" indent="-457200" algn="just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C00000"/>
                </a:solidFill>
                <a:sym typeface="Bara TH"/>
              </a:rPr>
              <a:t>Fairness Highlight</a:t>
            </a:r>
            <a:endParaRPr lang="en-AS" sz="2800" b="1" dirty="0">
              <a:solidFill>
                <a:srgbClr val="C00000"/>
              </a:solidFill>
              <a:sym typeface="Bara TH"/>
            </a:endParaRPr>
          </a:p>
          <a:p>
            <a:pPr marL="1717038" lvl="3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sym typeface="Bara TH"/>
              </a:rPr>
              <a:t>Items {Movie B, Movie C} are selected because they were interacted with by multiple users.</a:t>
            </a:r>
            <a:endParaRPr lang="en-US" sz="2800" dirty="0">
              <a:solidFill>
                <a:schemeClr val="bg1"/>
              </a:solidFill>
              <a:sym typeface="Bara TH"/>
            </a:endParaRPr>
          </a:p>
        </p:txBody>
      </p:sp>
    </p:spTree>
    <p:extLst>
      <p:ext uri="{BB962C8B-B14F-4D97-AF65-F5344CB8AC3E}">
        <p14:creationId xmlns:p14="http://schemas.microsoft.com/office/powerpoint/2010/main" val="395658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496E9-AF44-388D-78B5-A6D1D1D4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5DC86D-5DB9-31B3-28CD-191E58BBC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382851"/>
            <a:ext cx="10905494" cy="126451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Methodology for Generating Group-Based Counterfactuals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F25871-815E-1A5E-0688-F1D3C0172C14}"/>
              </a:ext>
            </a:extLst>
          </p:cNvPr>
          <p:cNvSpPr/>
          <p:nvPr/>
        </p:nvSpPr>
        <p:spPr>
          <a:xfrm>
            <a:off x="485178" y="1757480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ADAF5AD-C80E-AA6D-CBFE-31AD99D5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78" y="1834778"/>
            <a:ext cx="1090549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Identify Group Preferences</a:t>
            </a:r>
            <a:r>
              <a:rPr lang="en-US" alt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Compute the average rating of each item across all group members.</a:t>
            </a:r>
          </a:p>
          <a:p>
            <a:pPr marL="365760"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Determine Top Recommendations</a:t>
            </a:r>
            <a:r>
              <a:rPr lang="en-US" alt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Select the top-10 items for the group based on average scores.</a:t>
            </a: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Simulate Alternative Scenarios</a:t>
            </a:r>
            <a:r>
              <a:rPr lang="en-US" alt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Systematically remove combinations of</a:t>
            </a:r>
            <a:r>
              <a:rPr lang="en-US" alt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previously interacted items from the user-item matrix.</a:t>
            </a:r>
          </a:p>
          <a:p>
            <a:pPr marL="36576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576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GB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Bara TH"/>
              </a:rPr>
              <a:t>Counterfactual Explanations</a:t>
            </a:r>
            <a:r>
              <a:rPr lang="en-A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Bara TH"/>
              </a:rPr>
              <a:t>: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 how recommendations change when specific subsets of interacted items are removed.</a:t>
            </a:r>
            <a:endParaRPr lang="en-AS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Bara TH"/>
            </a:endParaRPr>
          </a:p>
        </p:txBody>
      </p:sp>
    </p:spTree>
    <p:extLst>
      <p:ext uri="{BB962C8B-B14F-4D97-AF65-F5344CB8AC3E}">
        <p14:creationId xmlns:p14="http://schemas.microsoft.com/office/powerpoint/2010/main" val="396089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E23D-676E-1B49-3EBC-25DD4C00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34" y="117820"/>
            <a:ext cx="6787747" cy="699867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Implementation</a:t>
            </a:r>
            <a:r>
              <a:rPr lang="en-US" dirty="0"/>
              <a:t> </a:t>
            </a:r>
            <a:r>
              <a:rPr lang="en-US" dirty="0">
                <a:solidFill>
                  <a:srgbClr val="002060"/>
                </a:solidFill>
              </a:rPr>
              <a:t>output</a:t>
            </a:r>
            <a:endParaRPr lang="en-US" spc="1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12B82-0E0C-B8C0-6C70-B32FD8719F13}"/>
              </a:ext>
            </a:extLst>
          </p:cNvPr>
          <p:cNvSpPr/>
          <p:nvPr/>
        </p:nvSpPr>
        <p:spPr>
          <a:xfrm>
            <a:off x="272134" y="1006481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E2B21C-9834-99BE-4349-EFF9DE13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1286033"/>
            <a:ext cx="11901948" cy="545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5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2660</TotalTime>
  <Words>240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Bara TH</vt:lpstr>
      <vt:lpstr>Calibri</vt:lpstr>
      <vt:lpstr>Franklin Gothic Book</vt:lpstr>
      <vt:lpstr>Franklin Gothic Demi</vt:lpstr>
      <vt:lpstr>Wingdings</vt:lpstr>
      <vt:lpstr>Custom</vt:lpstr>
      <vt:lpstr>Counterfactual Explanations for Group Recommendations             Part 4</vt:lpstr>
      <vt:lpstr>PowerPoint Presentation</vt:lpstr>
      <vt:lpstr>Example Explanation</vt:lpstr>
      <vt:lpstr>Methodology for Generating Group-Based Counterfactuals</vt:lpstr>
      <vt:lpstr>Implementation output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16</cp:revision>
  <dcterms:created xsi:type="dcterms:W3CDTF">2025-11-06T15:58:54Z</dcterms:created>
  <dcterms:modified xsi:type="dcterms:W3CDTF">2026-06-11T12:50:31Z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